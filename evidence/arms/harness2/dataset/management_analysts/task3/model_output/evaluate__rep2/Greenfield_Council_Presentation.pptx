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Departmental Restructuring: Decision Briefing for City Council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City of Greenfield  |  FY2024 Operational Review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</a:rPr>
              <a:t>Prepared by the Office of Management &amp; Budget - Management Analysis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121"/>
                </a:solidFill>
              </a:rPr>
              <a:t>Decision requested: select a restructuring path for the five-department operating model.</a:t>
            </a:r>
          </a:p>
          <a:p>
            <a:pPr algn="l"/>
            <a:r>
              <a:rPr sz="1700" b="0" i="0">
                <a:solidFill>
                  <a:srgbClr val="212121"/>
                </a:solidFill>
              </a:rPr>
              <a:t>Options evaluated: Proposal A (Consolidate), Proposal B (Targeted Fix), and a Hybrid recommendation.</a:t>
            </a:r>
          </a:p>
          <a:p>
            <a:pPr algn="l"/>
            <a:r>
              <a:rPr sz="1700" b="0" i="0">
                <a:solidFill>
                  <a:srgbClr val="212121"/>
                </a:solidFill>
              </a:rPr>
              <a:t>Basis: FY2024 staffing, overtime, 311, and process-cycle data; New York City Comptroller Report 2-2025 and NYC MMR benchmarks.</a:t>
            </a:r>
          </a:p>
          <a:p>
            <a:pPr algn="l"/>
            <a:r>
              <a:rPr sz="1700" b="0" i="0">
                <a:solidFill>
                  <a:srgbClr val="212121"/>
                </a:solidFill>
              </a:rPr>
              <a:t>Bottom line: the Hybrid (Proposal B + Public Works merger) scores highest (3.60 of 5.00) and turns cash-positive within 12 months.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Baseline: Five Departments Under Sustained Operational Stress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16161"/>
                </a:solidFill>
              </a:rPr>
              <a:t>FY2024 staffing, overtime, and service metrics by department (citywide: 596 authorized / 542 filled = 9.06% vacancy; overtime 9.59% of payroll)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1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272"/>
                <a:gridCol w="1344764"/>
                <a:gridCol w="1100261"/>
                <a:gridCol w="2078272"/>
                <a:gridCol w="1100261"/>
                <a:gridCol w="1222513"/>
                <a:gridCol w="232277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Filled/Auth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Vacancy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OT share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311 days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Satisfaction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Worst on-time process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</a:rPr>
                        <a:t>Fire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175/181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14.6% (12/12 months)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Plan Review 59.6%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</a:rPr>
                        <a:t>Health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100/120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12.0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3.72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Env Complaint 64.1%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</a:rPr>
                        <a:t>Parks &amp; Recreation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112/118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Tree Removal 62.4%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</a:rPr>
                        <a:t>Sanitation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114/122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9.8% (Dec-Mar)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9.1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3.64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Illegal Dumping 54.2%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</a:rPr>
                        <a:t>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141/165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8.4% (Dec, Jan)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3.36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121"/>
                          </a:solidFill>
                        </a:rPr>
                        <a:t>Street Resurfacing 48.3%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8 of 25 service processes missed the 65% on-time standard; all have Manual cycle-time methods.</a:t>
            </a:r>
          </a:p>
          <a:p>
            <a:pPr algn="l"/>
            <a:r>
              <a:rPr sz="1500" b="0" i="0">
                <a:solidFill>
                  <a:srgbClr val="212121"/>
                </a:solidFill>
              </a:rPr>
              <a:t>Overtime is structural in Fire (12 of 12 months above 10%) and seasonal in Sanitation and Transportation (winter months).</a:t>
            </a:r>
          </a:p>
          <a:p>
            <a:pPr algn="l"/>
            <a:r>
              <a:rPr sz="1500" b="0" i="0">
                <a:solidFill>
                  <a:srgbClr val="212121"/>
                </a:solidFill>
              </a:rPr>
              <a:t>Two departments operate above the 12% vacancy trigger (Health 16.7%, Transportation 14.9%) - both carry the worst 311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Benchmark Context: New York City Comptroller Report 2-2025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16161"/>
                </a:solidFill>
              </a:rPr>
              <a:t>The same workforce pressures Greenfield faces are documented citywide in NYC; benchmarks are operational context, not fiscal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Vacancy pressure.</a:t>
            </a:r>
            <a:r>
              <a:rPr sz="1500">
                <a:solidFill>
                  <a:srgbClr val="212121"/>
                </a:solidFill>
              </a:rPr>
              <a:t> NYC vacancy 5.1% (Jan 2024) vs 2.0% pre-pandemic; peak 8.4% (Dec 2022). DOT 10.0% vs 6.7% historical; Health 9.3% vs 8.6%.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Attrition surge.</a:t>
            </a:r>
            <a:r>
              <a:rPr sz="1500">
                <a:solidFill>
                  <a:srgbClr val="212121"/>
                </a:solidFill>
              </a:rPr>
              <a:t> FY22 separations 48,864 vs 27,600 10-yr average; FDNY separations +52.0%, Transportation +33.9%, Parks &amp; Cultural +30.0%.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Overtime escalation.</a:t>
            </a:r>
            <a:r>
              <a:rPr sz="1500">
                <a:solidFill>
                  <a:srgbClr val="212121"/>
                </a:solidFill>
              </a:rPr>
              <a:t> Citywide OT $1,113.1M to $1,812.8M; share of payroll 7.0% to 10.8%. Fire Ext &amp; Emerg Resp reached 40.3% of agency OT.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Hiring pipeline.</a:t>
            </a:r>
            <a:r>
              <a:rPr sz="1500">
                <a:solidFill>
                  <a:srgbClr val="212121"/>
                </a:solidFill>
              </a:rPr>
              <a:t> DCAS exam processing 318 to 219 days; FDNY hiring up +38.2% - pipelines are the binding constraint.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Service consequences.</a:t>
            </a:r>
            <a:r>
              <a:rPr sz="1500">
                <a:solidFill>
                  <a:srgbClr val="212121"/>
                </a:solidFill>
              </a:rPr>
              <a:t> FDNY EMS response 9:32 vs 6:55 target; structural fire 4:37 vs 4:14 target - staffing strain shows up in outcomes, not just budgets.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What still worked.</a:t>
            </a:r>
            <a:r>
              <a:rPr sz="1500">
                <a:solidFill>
                  <a:srgbClr val="212121"/>
                </a:solidFill>
              </a:rPr>
              <a:t> DOT pothole completion 100% vs 98% target; DOHMH food-inspection SLA held at 90% - targeted investment protects flagship metrics.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Greenfield comparison.</a:t>
            </a:r>
            <a:r>
              <a:rPr sz="1500">
                <a:solidFill>
                  <a:srgbClr val="212121"/>
                </a:solidFill>
              </a:rPr>
              <a:t> Greenfield per-position spending runs 15-23% of NYC peers ($28.4M payroll / 542 FTE) - the gap is workload capacity, not pay level.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Implication.</a:t>
            </a:r>
            <a:r>
              <a:rPr sz="1500">
                <a:solidFill>
                  <a:srgbClr val="212121"/>
                </a:solidFill>
              </a:rPr>
              <a:t> Consolidation alone does not create capacity; the NYC evidence supports pairing structural change with targeted hiring.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Two Council Proposals - and the Hybrid We Recommend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16161"/>
                </a:solidFill>
              </a:rPr>
              <a:t>Both proposals respond to the same diagnosis; they differ in whether the fix is structural or operational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4686300"/>
                <a:gridCol w="468630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Proposal A: Consolidate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Proposal B: Targeted Fix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Core 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Merge Health+Parks into Community Wellness; Transportation+Sanitation into Public Works; Fire standalone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Keep all five departments; fix staffing and overtime at the division level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Fiscal effect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+$1,455,393/yr steady state; +$751,736 in Year 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-$225,631/yr steady state (net investment); -$285,942 in Year 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Service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7 of 8 lagging processes in scope; transition risk during merger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7 of 8 touched via 12 hires, 16 cross-trained FTE, Fire OT cap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Main risk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Capacity cut in strained departments; merger disruption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Savings depend on execution; smallest fiscal return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</a:rPr>
              <a:t>Hybrid recommendation: adopt Proposal B in full, plus Proposal A's Public Works merger only (Transportation + Sanitation).</a:t>
            </a:r>
          </a:p>
          <a:p>
            <a:pPr algn="l"/>
            <a:r>
              <a:rPr sz="1600" b="1" i="0">
                <a:solidFill>
                  <a:srgbClr val="212121"/>
                </a:solidFill>
              </a:rPr>
              <a:t>Result: +$259,111/yr steady state, Year-1 cash impact -$37,033, breakeven within 12 months - and the two worst processes gain merger synergies.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Proposal A Evaluation: Largest Savings, Highest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16161"/>
                </a:solidFill>
              </a:rPr>
              <a:t>Structural consolidation - $1,455,393/yr steady state, but savings ride on vacancy abolition and a contested merger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A1 Admin consolidation - $482,414.</a:t>
            </a:r>
            <a:r>
              <a:rPr sz="1500">
                <a:solidFill>
                  <a:srgbClr val="212121"/>
                </a:solidFill>
              </a:rPr>
              <a:t> Six administrative positions (3 per merger) eliminated; assumes 50% consolidation of the 6% administrative layer, 1.25x salary premium, 1.25x fringe.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A2 Vacancy abolition - $779,500.</a:t>
            </a:r>
            <a:r>
              <a:rPr sz="1500">
                <a:solidFill>
                  <a:srgbClr val="212121"/>
                </a:solidFill>
              </a:rPr>
              <a:t> Abolishes 12.25 of 49 budgeted vacancies (25%). This is the largest line item - and the most fragile assumption.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A3 Shared fleet &amp; crew OT - $193,478.</a:t>
            </a:r>
            <a:r>
              <a:rPr sz="1500">
                <a:solidFill>
                  <a:srgbClr val="212121"/>
                </a:solidFill>
              </a:rPr>
              <a:t> 15% reduction of Public Works overtime ($1,289,856) from merged fleet and crew pooling.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One-time cost - $121,500.</a:t>
            </a:r>
            <a:r>
              <a:rPr sz="1500">
                <a:solidFill>
                  <a:srgbClr val="212121"/>
                </a:solidFill>
              </a:rPr>
              <a:t> $300 per reorganized position for 405 filled positions.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Year-1 realization - 60%.</a:t>
            </a:r>
            <a:r>
              <a:rPr sz="1500">
                <a:solidFill>
                  <a:srgbClr val="212121"/>
                </a:solidFill>
              </a:rPr>
              <a:t> Merger transition delays savings: Year-1 net is +$751,736, not the full run rate.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Scoring: 3.20 of 5.00.</a:t>
            </a:r>
            <a:r>
              <a:rPr sz="1500">
                <a:solidFill>
                  <a:srgbClr val="212121"/>
                </a:solidFill>
              </a:rPr>
              <a:t> Strong on savings (5), weak on complexity (2) and risk (2).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Risk assessment: Health and Transportation - the two departments with &gt;12% vacancy and the worst 311 outcomes - absorb the deepest cuts (combined ~18 FTE reallocated away). Abolishing vacancies in divisions that are actively hiring freezes the very posts that drive 13.6-day response times.</a:t>
            </a:r>
          </a:p>
          <a:p>
            <a:pPr algn="l"/>
            <a:r>
              <a:rPr sz="1500" b="0" i="0">
                <a:solidFill>
                  <a:srgbClr val="212121"/>
                </a:solidFill>
              </a:rPr>
              <a:t>The Community Wellness merger captures little: its two lagging processes (Tree Removal 62.4%) are operations-heavy, not administrative.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Proposal B Evaluation: Strongest Service Repair, Net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16161"/>
                </a:solidFill>
              </a:rPr>
              <a:t>Operational fixes at the division level - $225,631/yr net cost, but it is the only proposal that adds field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B1 Fire OT cap - $326,832.</a:t>
            </a:r>
            <a:r>
              <a:rPr sz="1500">
                <a:solidFill>
                  <a:srgbClr val="212121"/>
                </a:solidFill>
              </a:rPr>
              <a:t> Structural overtime cap (13,618 hrs x $48) at 50% achievability; Fire exceeded 10% OT share in all 12 months - this is structural, not discretionary.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B2 Seasonal OT recovery - $29,237.</a:t>
            </a:r>
            <a:r>
              <a:rPr sz="1500">
                <a:solidFill>
                  <a:srgbClr val="212121"/>
                </a:solidFill>
              </a:rPr>
              <a:t> 16 FTE cross-trained into winter-ops pools (9 Transportation, 4 Sanitation, 3 Health intake); recovers 40% of the $73,093 seasonal excess at $2,000/FTE training cost.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B3 Targeted hiring - $581,700 net.</a:t>
            </a:r>
            <a:r>
              <a:rPr sz="1500">
                <a:solidFill>
                  <a:srgbClr val="212121"/>
                </a:solidFill>
              </a:rPr>
              <a:t> 12 hires in the 8 divisions above the 12% vacancy trigger: $831,000 add-back incl. fringe, less $249,300 (30%) overtime displacement offset; $96,000 one-time recruiting.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Service effect.</a:t>
            </a:r>
            <a:r>
              <a:rPr sz="1500">
                <a:solidFill>
                  <a:srgbClr val="212121"/>
                </a:solidFill>
              </a:rPr>
              <a:t> All 8 divisions above the vacancy trigger get staffing; Transportation and Health - the two worst 311 performers - receive 5 of 12 hires.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Scoring: 3.35 of 5.00.</a:t>
            </a:r>
            <a:r>
              <a:rPr sz="1500">
                <a:solidFill>
                  <a:srgbClr val="212121"/>
                </a:solidFill>
              </a:rPr>
              <a:t> Strong on SLA (4) and lowest risk (5 = lowest), but weakest on savings (1).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</a:rPr>
              <a:t>Caveat.</a:t>
            </a:r>
            <a:r>
              <a:rPr sz="1500">
                <a:solidFill>
                  <a:srgbClr val="212121"/>
                </a:solidFill>
              </a:rPr>
              <a:t> Fire's 50% cap achievement is an assumption; even at 50% the cap addresses a structural line, not a seasonal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Verdict: Proposal B is a service-restoration strategy, not a savings strategy - steady-state -$225,631/yr. Alone, it leaves administrative duplication and the 7 non-triggered Sanitation vacancies untouched.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Recommendation: Adopt the Hybrid (Proposal B + Public Works Merger)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16161"/>
                </a:solidFill>
              </a:rPr>
              <a:t>Weighted scoring across Council priorities: savings 30%, SLA improvement 30%, complexity 15%, risk 25%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1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101"/>
                <a:gridCol w="2883876"/>
                <a:gridCol w="2883876"/>
                <a:gridCol w="317226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Criterion (weight)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Proposal A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Proposal B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Hybrid (recommended)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Annual net savings (30%)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$1,455,393 - 5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-$225,631 (net cost) - 1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$259,111 - 3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SLA improvement (30%)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7 of 8 in scope; transition risk - 3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7 of 8 via hires/cross-training - 4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7 of 8 + merger synergy on 2 worst - 5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Complexity (15%)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4 (most complex)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2 - 4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3 - 3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Risk (25%)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4 (capacity cut, merger) - 2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1-2 (incremental) - 5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3 - 3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Weighted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3.20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3.35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3.60 - RECOMMENDED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Why the Hybrid wins: it takes Proposal B's entire service-repair package (12 hires, 16 cross-trained FTE, Fire OT cap) and adds only the merger with demonstrated math - Public Works (Transportation + Sanitation) already share winter operations.</a:t>
            </a:r>
          </a:p>
          <a:p>
            <a:pPr algn="l"/>
            <a:r>
              <a:rPr sz="1400" b="0" i="0">
                <a:solidFill>
                  <a:srgbClr val="212121"/>
                </a:solidFill>
              </a:rPr>
              <a:t>Fiscal path: steady state +$259,111/yr (admin $199,107 + vacancy abolition $92,156 + fleet/crew OT $193,478, less B's -$225,631 net investment); one-time cost $192,500; Year-1 -$37,033; breakeven within 12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Implementation: 12-Month Sequencing for the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16161"/>
                </a:solidFill>
              </a:rPr>
              <a:t>Service-repair measures start immediately; the merger follows a controlled 9-month transition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077"/>
                <a:gridCol w="1124711"/>
                <a:gridCol w="5784233"/>
                <a:gridCol w="2410097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Months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Fiscal effect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1. Immediate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Post 12 division hires (8 triggered divisions); begin cross-training 16 FTE; apply Fire OT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Recruiting $96,000 one-time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2. Stabilize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4-6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Hires onboarded; measure vacancy-trigger divisions; winter-ops pools staffed before December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Hiring add-back $831,000/yr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3. Merger 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6-9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Public Works transition team; unified budget and fleet plan; union notice; no front-line 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One-time $192,500 total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12121"/>
                          </a:solidFill>
                        </a:rPr>
                        <a:t>4. Merge &amp; abolish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9-12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Public Works operational; abolish 1.75 non-triggered Sanitation vacancies; 3 admin positions consolidated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12121"/>
                          </a:solidFill>
                        </a:rPr>
                        <a:t>Steady state +$259,111/yr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Controls: quarterly reporting on the 8 lagging processes; vacancy-trigger monitoring (12%); Fire OT cap tracked monthly against the 13,618-hour baseline.</a:t>
            </a:r>
          </a:p>
          <a:p>
            <a:pPr algn="l"/>
            <a:r>
              <a:rPr sz="1500" b="0" i="0">
                <a:solidFill>
                  <a:srgbClr val="212121"/>
                </a:solidFill>
              </a:rPr>
              <a:t>Decision gate at Month 6: if hiring lags or OT displacement is below 30%, Council revisits the merger phase before irreversible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Council Asks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5E20"/>
                </a:solidFill>
              </a:rPr>
              <a:t>1. Adopt the Hybrid resolution.</a:t>
            </a:r>
            <a:r>
              <a:rPr sz="1600">
                <a:solidFill>
                  <a:srgbClr val="212121"/>
                </a:solidFill>
              </a:rPr>
              <a:t> Approve Proposal B in full plus the Public Works merger (Transportation + Sanitation); defer the Community Wellness merger until Year-2 review.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5E20"/>
                </a:solidFill>
              </a:rPr>
              <a:t>2. Approve funding.</a:t>
            </a:r>
            <a:r>
              <a:rPr sz="1600">
                <a:solidFill>
                  <a:srgbClr val="212121"/>
                </a:solidFill>
              </a:rPr>
              <a:t> $192,500 one-time (reorganization + recruiting) and $581,700 net annual hiring add-back; Year-1 cash impact -$37,033, breakeven inside 12 months.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5E20"/>
                </a:solidFill>
              </a:rPr>
              <a:t>3. Direct quarterly reporting.</a:t>
            </a:r>
            <a:r>
              <a:rPr sz="1600">
                <a:solidFill>
                  <a:srgbClr val="212121"/>
                </a:solidFill>
              </a:rPr>
              <a:t> Office of Management &amp; Budget reports the 8 lagging processes, vacancy-trigger divisions, and Fire OT cap status each quarter.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5E20"/>
                </a:solidFill>
              </a:rPr>
              <a:t>4. Authorize the retention study.</a:t>
            </a:r>
            <a:r>
              <a:rPr sz="1600">
                <a:solidFill>
                  <a:srgbClr val="212121"/>
                </a:solidFill>
              </a:rPr>
              <a:t> The Comptroller evidence links attrition to service failure; commission a Greenfield turnover and exit-interview study before FY2027 budgeting.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16161"/>
                </a:solidFill>
              </a:rPr>
              <a:t>Supporting materials: Decision Briefing Memo (6-section analysis) and Cost-Benefit Analysis Workbook (baseline metrics, proposal models, weighted comparison).</a:t>
            </a:r>
          </a:p>
          <a:p>
            <a:pPr algn="l"/>
            <a:r>
              <a:rPr sz="1400" b="0" i="0">
                <a:solidFill>
                  <a:srgbClr val="616161"/>
                </a:solidFill>
              </a:rPr>
              <a:t>All figures trace to FY2024 transactional data and the NYC Comptroller Report 2-2025; assumptions are documented on each workbook tab.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5E20"/>
                </a:solidFill>
              </a:rPr>
              <a:t>The Hybrid delivers Greenfield's only fiscally positive path that also repairs frontline capacity.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743200"/>
          <a:ext cx="1069847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7602"/>
                <a:gridCol w="2340292"/>
                <a:gridCol w="2340292"/>
                <a:gridCol w="23402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Proposal A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Proposal B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Steady-state annual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+$1,455,393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-$225,631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+$259,111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Year-1 cash effect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+$751,736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-$285,942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-$37,033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One-time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$121,500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$128,000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$192,500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FTE reallocated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~18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~33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Weighted score (of 5.00)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3.20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3.35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3.60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</a:rPr>
              <a:t>Recommendation: adopt the Hybrid - Proposal B in full, plus the Public Works merger - with quarterly Council oversight.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