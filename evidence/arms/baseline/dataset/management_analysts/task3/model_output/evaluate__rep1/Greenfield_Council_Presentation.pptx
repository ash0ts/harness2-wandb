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/>
              <a:t>Share of FY2024 OT dollars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OT $ share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Fire 47.9%</c:v>
                </c:pt>
                <c:pt idx="1">
                  <c:v>Sanitation 14.9%</c:v>
                </c:pt>
                <c:pt idx="2">
                  <c:v>Transportation 14.8%</c:v>
                </c:pt>
                <c:pt idx="3">
                  <c:v>Health 12.1%</c:v>
                </c:pt>
                <c:pt idx="4">
                  <c:v>Parks 10.4%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10.4</c:v>
                </c:pt>
                <c:pt idx="1">
                  <c:v>14.9</c:v>
                </c:pt>
                <c:pt idx="2">
                  <c:v>14.8</c:v>
                </c:pt>
                <c:pt idx="3">
                  <c:v>12.1</c:v>
                </c:pt>
                <c:pt idx="4">
                  <c:v>47.9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Avg days to close a 311 request (lower =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days to close 311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Sheet1!$A$2:$A$6</c:f>
              <c:strCache>
                <c:ptCount val="5"/>
                <c:pt idx="0">
                  <c:v>Parks</c:v>
                </c:pt>
                <c:pt idx="1">
                  <c:v>Sanitation</c:v>
                </c:pt>
                <c:pt idx="2">
                  <c:v>Transportation</c:v>
                </c:pt>
                <c:pt idx="3">
                  <c:v>Health</c:v>
                </c:pt>
                <c:pt idx="4">
                  <c:v>Fire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12.5</c:v>
                </c:pt>
                <c:pt idx="1">
                  <c:v>9.0</c:v>
                </c:pt>
                <c:pt idx="2">
                  <c:v>13.6</c:v>
                </c:pt>
                <c:pt idx="3">
                  <c:v>12.0</c:v>
                </c:pt>
                <c:pt idx="4">
                  <c:v>3.8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Year 1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Sheet1!$A$2:$A$4</c:f>
              <c:strCache>
                <c:ptCount val="3"/>
                <c:pt idx="0">
                  <c:v>Proposal A</c:v>
                </c:pt>
                <c:pt idx="1">
                  <c:v>Proposal B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-207433</c:v>
                </c:pt>
                <c:pt idx="1">
                  <c:v>-532710</c:v>
                </c:pt>
                <c:pt idx="2">
                  <c:v>-702666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Year 2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Sheet1!$A$2:$A$4</c:f>
              <c:strCache>
                <c:ptCount val="3"/>
                <c:pt idx="0">
                  <c:v>Proposal A</c:v>
                </c:pt>
                <c:pt idx="1">
                  <c:v>Proposal B</c:v>
                </c:pt>
                <c:pt idx="2">
                  <c:v>Hybrid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1085135</c:v>
                </c:pt>
                <c:pt idx="1">
                  <c:v>-674920</c:v>
                </c:pt>
                <c:pt idx="2">
                  <c:v>-414831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</a:rPr>
              <a:t>Departmental Restructuring: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</a:rPr>
              <a:t>A Council Decision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BDD7EE"/>
                </a:solidFill>
              </a:rPr>
              <a:t>Proposal A "Consolidate"  vs  Proposal B "Targeted Fix"  -  with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City of Greenfield - Office of the Management Analyst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BDD7EE"/>
                </a:solidFill>
              </a:rPr>
              <a:t>October 19, 2026    |    Sources: FY2024 operating data; NYC MMR; NYS Comptroller Report 2-2025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Why Now: FY2024 Closed With Warning Signs on Every Line</a:t>
            </a:r>
          </a:p>
          <a:p>
            <a:r>
              <a:rPr sz="1200">
                <a:solidFill>
                  <a:srgbClr val="BDD7EE"/>
                </a:solidFill>
              </a:rPr>
              <a:t>Baseline before any restructuring decision [S1][S2]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651760" cy="1554480"/>
          </a:xfrm>
          <a:prstGeom prst="rect">
            <a:avLst/>
          </a:prstGeom>
          <a:solidFill>
            <a:srgbClr val="FFC7CE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C00000"/>
                </a:solidFill>
              </a:rPr>
              <a:t>9.1%</a:t>
            </a:r>
          </a:p>
          <a:p>
            <a:pPr algn="ctr"/>
            <a:r>
              <a:rPr sz="1100">
                <a:solidFill>
                  <a:srgbClr val="595959"/>
                </a:solidFill>
              </a:rPr>
              <a:t>Vacancy citywide - 54 of 596 authorized positions unfilled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371600"/>
            <a:ext cx="2651760" cy="1554480"/>
          </a:xfrm>
          <a:prstGeom prst="rect">
            <a:avLst/>
          </a:prstGeom>
          <a:solidFill>
            <a:srgbClr val="D9E2F3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F4E79"/>
                </a:solidFill>
              </a:rPr>
              <a:t>$4.35M</a:t>
            </a:r>
          </a:p>
          <a:p>
            <a:pPr algn="ctr"/>
            <a:r>
              <a:rPr sz="1100">
                <a:solidFill>
                  <a:srgbClr val="595959"/>
                </a:solidFill>
              </a:rPr>
              <a:t>Overtime cost - 9.6% of regular hours citywide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371600"/>
            <a:ext cx="2651760" cy="1554480"/>
          </a:xfrm>
          <a:prstGeom prst="rect">
            <a:avLst/>
          </a:prstGeom>
          <a:solidFill>
            <a:srgbClr val="FFC7CE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C00000"/>
                </a:solidFill>
              </a:rPr>
              <a:t>8 of 25</a:t>
            </a:r>
          </a:p>
          <a:p>
            <a:pPr algn="ctr"/>
            <a:r>
              <a:rPr sz="1100">
                <a:solidFill>
                  <a:srgbClr val="595959"/>
                </a:solidFill>
              </a:rPr>
              <a:t>Tracked processes below the 65% on-time standard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1371600"/>
            <a:ext cx="2651760" cy="1554480"/>
          </a:xfrm>
          <a:prstGeom prst="rect">
            <a:avLst/>
          </a:prstGeom>
          <a:solidFill>
            <a:srgbClr val="D9E2F3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F4E79"/>
                </a:solidFill>
              </a:rPr>
              <a:t>63</a:t>
            </a:r>
          </a:p>
          <a:p>
            <a:pPr algn="ctr"/>
            <a:r>
              <a:rPr sz="1100">
                <a:solidFill>
                  <a:srgbClr val="595959"/>
                </a:solidFill>
              </a:rPr>
              <a:t>Open 311 requests averaging ~200 days of 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</a:rPr>
              <a:t>The vacancy-service link is direct: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The two highest-vacancy departments - Transportation (14.9%) and Health Services (16.7%) - are the two slowest and lowest-rated: 13.6 and 12.0 days to close a 311 request; satisfaction 3.36 and 3.72.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The best-staffed department delivers the best service: Fire (3.5% vacancy) closes requests in 3.8 days at 4.23 satisfaction.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Fire overtime is structural: 14.6% of regular hours, above 10% in all 12 months, and 47.9% of all overtime dollars citywide.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Turnover self-reinforces vacancies: 20.4% (Transportation) and 23.1% (Health Services) vs 4.9% (Fire).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FY2024 = Jul 2023 - Jun 2024. 596 authorized / 542 filled positions across five departments.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Staffing and Overtime Scorecard (FY2024)</a:t>
            </a:r>
          </a:p>
          <a:p>
            <a:r>
              <a:rPr sz="1200">
                <a:solidFill>
                  <a:srgbClr val="BDD7EE"/>
                </a:solidFill>
              </a:rPr>
              <a:t>Red = breach of decision triggers: vacancy &gt;12% | OT &gt;10% of regular hours [S1]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34440"/>
          <a:ext cx="7589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40080"/>
                <a:gridCol w="640080"/>
                <a:gridCol w="822960"/>
                <a:gridCol w="1234440"/>
                <a:gridCol w="640080"/>
                <a:gridCol w="960120"/>
                <a:gridCol w="91440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Department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Auth.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Filled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Vacancy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Salary cost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OT 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OT cost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Comp / FTE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Parks &amp; Recreation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$4,713,500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$453,960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$46,977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Sanitation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$4,290,100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$646,877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$48,881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Transportation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$5,545,800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$642,979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$54,288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Health Services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$4,835,100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7.1%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$525,390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$67,006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Fire Department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$9,005,400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$2,085,312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$80,954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CITYWIDE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$28,389,900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</a:rPr>
                        <a:t>9.6%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$4,354,518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$60,414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709160"/>
            <a:ext cx="7589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</a:rPr>
              <a:t>Fire: 14.6% OT, all 12 months above 10% - structural.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Sanitation 9.8% / Transportation 8.4%: breach 10% only in 4 and 2 seasonal months - management problem, not structural.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Parks (5.2%) and Fire (3.5%) vacancy are near healthy ranges; Transportation and Health Services drive the citywide gap.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0" y="1371600"/>
          <a:ext cx="35661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Citizen Service Outcomes Follow Staffing</a:t>
            </a:r>
          </a:p>
          <a:p>
            <a:r>
              <a:rPr sz="1200">
                <a:solidFill>
                  <a:srgbClr val="BDD7EE"/>
                </a:solidFill>
              </a:rPr>
              <a:t>311 resolution and process performance, FY2024 [S1][S2]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280160"/>
          <a:ext cx="6949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520" y="1463040"/>
          <a:ext cx="4206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/>
                <a:gridCol w="841248"/>
                <a:gridCol w="841248"/>
                <a:gridCol w="841248"/>
                <a:gridCol w="8412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Dept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Satisfaction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Worst on-time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311 volume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Procs &lt;65%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Parks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3.55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62.4%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Sanitation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3.64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54.2%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148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Transportation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3.36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48.3%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Health Services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3.72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64.1%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Fire Department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4.23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59.6%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420624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</a:rPr>
              <a:t>Every department with &gt;12% vacancy has the lowest satisfaction and the most failing processes.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</a:rPr>
              <a:t>Target line: 65% on-time; 3.5+ satisfaction; &lt;12 days resolution.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What the NYC Benchmark Data Tells Us</a:t>
            </a:r>
          </a:p>
          <a:p>
            <a:r>
              <a:rPr sz="1200">
                <a:solidFill>
                  <a:srgbClr val="BDD7EE"/>
                </a:solidFill>
              </a:rPr>
              <a:t>Pinned references: NYC MMR indicators + NYS Comptroller Report 2-2025 [S4][S5]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55778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188720"/>
                <a:gridCol w="1097280"/>
              </a:tblGrid>
              <a:tr h="44413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NYC MMR service standard (FY2026)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DOT pothole complaints closed in 30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DOHMH food establishment inspection SLA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DOHMH birth certificate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2.6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FDNY structural fire response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4.37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4.14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FDNY EMS life-threatening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9.32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6.55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DPR adult recreation memberships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27,015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663440"/>
            <a:ext cx="5577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</a:rPr>
              <a:t>Standards are met where staffing holds; EMS shows the strain where attrition bites.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Greenfield equivalents (DOT-type processes): Street Resurfacing 48.3%, Sidewalk Repair 61.7% - far below NYC norms.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486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554480"/>
              </a:tblGrid>
              <a:tr h="44413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OSC staffing-trends finding (NYC)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Citywide vacancy, Jan 2024 (pre-pandemic 2.0%)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Transportation / Health program-area vacancy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10.0% / 9.3%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Attrition peak, FY2022 (FDNY +52% vs pre-pandemic)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48,864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Overtime through Mar 2024 (vs $1.1B three yrs prior)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$1.8B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OT as share of payroll (FY2021 -&gt; FY2024)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7.0% -&gt; 10.8%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DCAS exam turnaround improvement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318 -&gt; 219 days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466344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</a:rPr>
              <a:t>Lesson: hiring-pipeline investment and targeted OT management moved NYC metrics - not reorganization.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Greenfield civilian pay sits at 14.5-20.4% of NYC per-employee personnel cost; Fire at 22.6% - and Fire alone has low turnover.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Compensation benchmark: NYC FY2025 adopted personnel-service budgets per employee [S3].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Proposal A - "Consolidate"</a:t>
            </a:r>
          </a:p>
          <a:p>
            <a:r>
              <a:rPr sz="1200">
                <a:solidFill>
                  <a:srgbClr val="BDD7EE"/>
                </a:solidFill>
              </a:rPr>
              <a:t>Merge Health Services + Parks &amp; Recreation; merge Transportation + Sanitation; Fire standalone [S1]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34440"/>
          <a:ext cx="6766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118872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Savings component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Basis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Annual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A1 Admin consolidation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4% of merged authorized positions exit via 24-month attrition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$859,530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A2 Shared fleet shop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20% of Sanitation fleet staff absorbed; fleet OT down 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$260,088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A3 Shared field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5% of Public Works OT via cross-borough crew sharing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$64,493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A4 Seasonal flex retiming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2% of Community Wellness authorized positions retimed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$201,023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Total recurring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25 positions removed - no layoffs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$1,385,135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343400"/>
            <a:ext cx="6766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</a:rPr>
              <a:t>Net: $-207,433 Year 1 -&gt; $1,085,135 Year 2 (after $1.2M one-time transition; savings phase in 50%/100%).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Projected headcount: Community Wellness 200, Public Works 232, Fire 142 (574 authorized citywide).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</a:rPr>
              <a:t>SLA improvement +1.0 pt only - indirect; 2-5 pt temporary dip risk during 12-month transition.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1234440"/>
            <a:ext cx="4389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</a:rPr>
              <a:t>Strengths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Largest recurring savings of any option ($1.39M = 4.9% of the five-department compensation base).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Geographic premise is valid: all five departments already operate in all five boroughs.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0000"/>
                </a:solidFill>
              </a:rPr>
              <a:t>Weaknesses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Does not fix the actual bottlenecks: Street Resurfacing fails from Road Maintenance vacancy, not lack of scale.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Merging clinical (Health) with recreation (Parks) re-issues SOPs across dissimilar services.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Union title merges and attrition timing are outside City control - Year 1 nets negative.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333333"/>
                </a:solidFill>
              </a:rPr>
              <a:t>Scorecard: 3.00 / 5.00 - savings-heavy, service-neutral.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Proposal B - "Targeted Fix"</a:t>
            </a:r>
          </a:p>
          <a:p>
            <a:r>
              <a:rPr sz="1200">
                <a:solidFill>
                  <a:srgbClr val="BDD7EE"/>
                </a:solidFill>
              </a:rPr>
              <a:t>Keep five departments; intervene only where metrics breach triggers [S1]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34440"/>
          <a:ext cx="60350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657600"/>
              </a:tblGrid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Trigger (FY2024)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Annual OT &gt;10% of regular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Fire only (14.6%; 12 of 12 months)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Division vacancy &gt;12%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8 divisions / 36 vacancies - all Transportation (4) and Health Services (4); rates 12.5-18.2%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Departments unaffected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Parks, Sanitation, Fire vacancy; Sanitation and Transportation OT handled by pooled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4434840"/>
          <a:ext cx="60350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0624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Intervention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B1 Cross-training 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19 field staff (10% of crews): Sanitation, Transportation, Parks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B2 Shared OT budgets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Fire: cap = 40% cut of OT above 10% threshold; others: 10% pooled cut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B3 Centralized hiring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3 HR FTE; fund 60% of 36 triggered vacancies (22 positions) in 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6560" y="12344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</a:rPr>
              <a:t>What it buys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+8.0 projected on-time points on the 8 failing processes - every failing process sits in a triggered division.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Citywide vacancy 9.1% -&gt; ~5.4% (22 of 54 vacancies filled); 44 FTE activated; zero layoffs.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Matches the NYC evidence: DCAS hiring-pipeline investment moved vacancy and OT together.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0000"/>
                </a:solidFill>
              </a:rPr>
              <a:t>What it costs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333333"/>
                </a:solidFill>
              </a:rPr>
              <a:t>Savings $717,736 vs recurring cost $1,392,656: net $-674,920 Year 2, $-532,710 Year 1.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It purchases service recovery, not savings. Downside: Health Services hiring may need incentives (+$50-80K not modeled).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333333"/>
                </a:solidFill>
              </a:rPr>
              <a:t>Scorecard: 3.70 / 5.00 - service-heavy, savings-negative.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Trade-offs: Council Scorecard (5 = best)</a:t>
            </a:r>
          </a:p>
          <a:p>
            <a:r>
              <a:rPr sz="1200">
                <a:solidFill>
                  <a:srgbClr val="BDD7EE"/>
                </a:solidFill>
              </a:rPr>
              <a:t>Weights: savings 30% | SLA 30% | FTE agility 10% | complexity 15% | risk 15%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72237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280160"/>
                <a:gridCol w="1280160"/>
                <a:gridCol w="137160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A: Consolidate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B: Targeted Fix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Hybrid (rec.)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50"/>
                        <a:t>Annual cost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50"/>
                        <a:t>Projected SLA improvement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50"/>
                        <a:t>FTE agility (touched / redeployed)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50"/>
                        <a:t>Implementation complexity (1 = low)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50"/>
                        <a:t>Execution risk (1 = 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150"/>
                        <a:t>WEIGHTED SCORE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3.00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3.70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</a:rPr>
                        <a:t>4.30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937760"/>
            <a:ext cx="7223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</a:rPr>
              <a:t>Hybrid wins by taking B's interventions now and only the merger-independent piece of A (shared fleet services).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863840" y="1371600"/>
          <a:ext cx="3931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777240"/>
                <a:gridCol w="777240"/>
                <a:gridCol w="8229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Financial summary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Hybrid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/>
                        <a:t>Recurring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$1,385,135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$717,736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$977,825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/>
                        <a:t>Recurring cost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$1,392,656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$1,392,656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/>
                        <a:t>Net 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$-207,433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$-532,710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$-702,666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/>
                        <a:t>Net Year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$1,085,135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$-674,920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$-414,831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/>
                        <a:t>Positions eliminated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/>
                        <a:t>FTE touched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/>
                        <a:t>On-time improvement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+1.0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+8.0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/>
                        <a:t>+8.0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A = Consolidate | B = Targeted Fix | Hybrid = Proposal B now + shared fleet services from Proposal A (no merger)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Financial Comparison: Net Impact by Year</a:t>
            </a:r>
          </a:p>
          <a:p>
            <a:r>
              <a:rPr sz="1200">
                <a:solidFill>
                  <a:srgbClr val="BDD7EE"/>
                </a:solidFill>
              </a:rPr>
              <a:t>Recurring savings minus costs, including one-time transition and ramp-up [model]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280160"/>
          <a:ext cx="73152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0" y="146304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</a:rPr>
              <a:t>Only Proposal A turns cash-positive - and only in Year 2.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A: $-207,433 Y1 -&gt; +$1,085,135 Y2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B: $-532,710 Y1 -&gt; $-674,920 Y2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</a:rPr>
              <a:t>Hybrid: $-702,666 Y1 -&gt; $-414,831 Y2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Perspective: B/H nets equal ~1.1% of the five-department compensation base - the price of restoring 8 failing services and cutting vacancy by a third.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Includes A transition $1.2M one-time; B/H hiring + training + recruiting one-time. Constant FY2024 dollars.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Recommendation: Adopt the Hybrid</a:t>
            </a:r>
          </a:p>
          <a:p>
            <a:r>
              <a:rPr sz="1200">
                <a:solidFill>
                  <a:srgbClr val="BDD7EE"/>
                </a:solidFill>
              </a:rPr>
              <a:t>Proposal B now + shared fleet services from Proposal A (no full merger)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566160" cy="1645920"/>
          </a:xfrm>
          <a:prstGeom prst="rect">
            <a:avLst/>
          </a:prstGeom>
          <a:solidFill>
            <a:srgbClr val="D9E2F3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F4E79"/>
                </a:solidFill>
              </a:rPr>
              <a:t>4.30 / 5.00</a:t>
            </a:r>
          </a:p>
          <a:p>
            <a:pPr algn="ctr"/>
            <a:r>
              <a:rPr sz="1100">
                <a:solidFill>
                  <a:srgbClr val="595959"/>
                </a:solidFill>
              </a:rPr>
              <a:t>Highest Council scorecard rating (A: 3.00, B: 3.70)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1371600"/>
            <a:ext cx="3566160" cy="1645920"/>
          </a:xfrm>
          <a:prstGeom prst="rect">
            <a:avLst/>
          </a:prstGeom>
          <a:solidFill>
            <a:srgbClr val="FFC7CE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C00000"/>
                </a:solidFill>
              </a:rPr>
              <a:t>+8.0 pts</a:t>
            </a:r>
          </a:p>
          <a:p>
            <a:pPr algn="ctr"/>
            <a:r>
              <a:rPr sz="1100">
                <a:solidFill>
                  <a:srgbClr val="595959"/>
                </a:solidFill>
              </a:rPr>
              <a:t>Projected on-time improvement on all 8 failing processes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371600"/>
            <a:ext cx="3566160" cy="1645920"/>
          </a:xfrm>
          <a:prstGeom prst="rect">
            <a:avLst/>
          </a:prstGeom>
          <a:solidFill>
            <a:srgbClr val="D9E2F3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F4E79"/>
                </a:solidFill>
              </a:rPr>
              <a:t>$-414,831</a:t>
            </a:r>
          </a:p>
          <a:p>
            <a:pPr algn="ctr"/>
            <a:r>
              <a:rPr sz="1100">
                <a:solidFill>
                  <a:srgbClr val="595959"/>
                </a:solidFill>
              </a:rPr>
              <a:t>Net Year 2 impact (vs +$1.09M for A) with ~5.4% vacancy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</a:rPr>
              <a:t>Why the hybrid, in one paragraph: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Proposal A saves money but leaves every failing process failing and carries the highest transition risk; Proposal B fixes the services but never pays for itself. The hybrid takes B's targeted interventions immediately and adds only the component of A that does not require a merger - the joint fleet shop - worth $260,088 per year. It touches 47 FTE with zero layoffs and keeps full consolidation on the table only as a contingency.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</a:rPr>
              <a:t>Re-evaluation rule: if citywide vacancy remains above 8% after Month 12, escalate the Phase 2 consolidation decision to Council.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Implementation Roadmap and Monitoring</a:t>
            </a:r>
          </a:p>
          <a:p>
            <a:r>
              <a:rPr sz="1200">
                <a:solidFill>
                  <a:srgbClr val="BDD7EE"/>
                </a:solidFill>
              </a:rPr>
              <a:t>Council approval assumed Q4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80160"/>
                <a:gridCol w="5120640"/>
                <a:gridCol w="210312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Window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Actions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Fiscal marker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Phase 1 - Targeted Fix (Proposal 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Months 0-12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Stand up centralized hiring team; open 22 funded backfills; train 19-person cross-training pool; Fire OT cap + pooled OT approval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Net Y1 $-532,710 incl. one-time $93K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Phase 2 - Shared fleet services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Months 12-24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Joint Public Works fleet-maintenance shop (3 positions absorbed); consolidated dispatch; 8% fleet OT reduction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+$260,088 recurring from fleet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/>
                        <a:t>Contingency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Month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If vacancy still &gt;8%: Council re-decides full consolidation (Proposal A pathway)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Decision gate, no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38912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</a:rPr>
              <a:t>Quarterly Council dashboard - the same three red lines used in this analysis: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</a:rPr>
              <a:t>Vacancy &gt;12% (division) | OT &gt;10% of regular hours (department-month) | On-time &lt;65% (process) - plus 311 resolution days and satisfaction.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</a:rPr>
              <a:t>Expected steady state (end of Phase 2): ~2-3 failing processes (from 8); vacancy ~5.4%; OT ~8.5% of regular hours; net fiscal impact -$414,831/yr.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Assumptions, Risks and Deliverables</a:t>
            </a:r>
          </a:p>
          <a:p>
            <a:r>
              <a:rPr sz="1200">
                <a:solidFill>
                  <a:srgbClr val="BDD7EE"/>
                </a:solidFill>
              </a:rPr>
              <a:t>Full detail: briefing memo Sec. 9-10 and workbook "Assumptions &amp; Sources" tab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3444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</a:rPr>
              <a:t>Key assumptions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4% admin reduction in mergers; 20% fleet absorption; 8%/5% OT reductions (A).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10% cross-training pool; 40% cut of Fire excess OT; 10% non-fire OT cut; 60% backfill of triggered vacancies (B).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$2,000 training + $500/yr maintenance per trainee; $65,000 HR salaries; $2,500 recruitment per hire.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Constant FY2024 dollars; no labor-market elasticity or capital costs modeled.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0000"/>
                </a:solidFill>
              </a:rPr>
              <a:t>Top risks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Health Services hiring yield below assumption (Medium-High) - incentive reserve; prioritize Clinical Services.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Fire OT cap union resistance (Medium) - negotiate scheduling flex first.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Hiring below 60% Year-1 pace (Medium) - triggers contingency review at Month 12.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3444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</a:rPr>
              <a:t>Source basis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[S1] Greenfield FY2024 staffing / overtime / process workbook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[S2] Greenfield FY2024 311 service requests (500 records)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[S3] NYC expense budgets, FY2025 adopted (per-employee benchmark)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[S4] NYC MMR indicators, FY2026 citywide (service-standard targets)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[S5] NYS Comptroller Report 2-2025: 2024 Update on NYC Staffing Trends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</a:rPr>
              <a:t>Companion deliverables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Greenfield_Decision_Briefing_Memo.docx - full analysis and traceability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Greenfield_CostBenefit_Analysis.xlsx - 4-tab CBA model with red-line formatting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</a:rPr>
              <a:t>All figures identical across the three deliverables (single shared model).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