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days to resolve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Sheet1!$A$2:$A$6</c:f>
              <c:strCache>
                <c:ptCount val="5"/>
                <c:pt idx="0">
                  <c:v>Parks</c:v>
                </c:pt>
                <c:pt idx="1">
                  <c:v>Sanitation</c:v>
                </c:pt>
                <c:pt idx="2">
                  <c:v>Transportation</c:v>
                </c:pt>
                <c:pt idx="3">
                  <c:v>Health</c:v>
                </c:pt>
                <c:pt idx="4">
                  <c:v>Fire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12.5</c:v>
                </c:pt>
                <c:pt idx="1">
                  <c:v>9.0</c:v>
                </c:pt>
                <c:pt idx="2">
                  <c:v>13.6</c:v>
                </c:pt>
                <c:pt idx="3">
                  <c:v>12.0</c:v>
                </c:pt>
                <c:pt idx="4">
                  <c:v>3.8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100"/>
                  <a:t>Avg resolution days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Sheet1!$A$2:$A$4</c:f>
              <c:strCache>
                <c:ptCount val="3"/>
                <c:pt idx="0">
                  <c:v>Manual</c:v>
                </c:pt>
                <c:pt idx="1">
                  <c:v>Semi-Automated</c:v>
                </c:pt>
                <c:pt idx="2">
                  <c:v>Automated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63.6</c:v>
                </c:pt>
                <c:pt idx="1">
                  <c:v>80.8</c:v>
                </c:pt>
                <c:pt idx="2">
                  <c:v>94.8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100"/>
                  <a:t>Avg on-time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net score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Sheet1!$A$2:$A$3</c:f>
              <c:strCache>
                <c:ptCount val="2"/>
                <c:pt idx="0">
                  <c:v>Proposal A</c:v>
                </c:pt>
                <c:pt idx="1">
                  <c:v>Proposal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1.81</c:v>
                </c:pt>
                <c:pt idx="1">
                  <c:v>2.89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100"/>
                  <a:t>Weighted net score (higher = better)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Departmental Restructuring: Decision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DEBF7"/>
                </a:solidFill>
                <a:latin typeface="Calibri"/>
              </a:rPr>
              <a:t>Proposal A ("Consolidate") vs Proposal B ("Targeted Fix") — and a recommended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City of Greenfield — Office of Management and Budget
City Council Vote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Where Greenfield Stands: FY2024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Red flags: vacancy &gt; 12%  •  overtime &gt; 10% of regular hours  •  on-time &lt; 65%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113842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30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Vacancy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OT % of Reg Hrs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OT Spend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311 Avg Days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Satisfaction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Worst On-Time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Parks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$453,960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12.5 days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3.55 / 5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62.4%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Sanitation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9.8%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$646,877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9.0 days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3.64 / 5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54.2%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Transportation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$642,979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13.6 days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3.36 / 5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48.3%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$525,390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12.0 days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3.72 / 5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64.1%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Fire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14.6%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$2,085,312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3.8 days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4.23 / 5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59.6%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CITYWIDE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$4,354,518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10.8 days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3.63 / 5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8 of 25 processes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343400"/>
            <a:ext cx="11338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54 vacancies (9.1%) </a:t>
            </a:r>
            <a:r>
              <a:rPr sz="1400">
                <a:solidFill>
                  <a:srgbClr val="262626"/>
                </a:solidFill>
                <a:latin typeface="Calibri"/>
              </a:rPr>
              <a:t>citywide — but 8 of 8 divisions above the 12% trigger are in Transportation (14.9%) and Health Services (16.7%)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Fire drives overtime: </a:t>
            </a:r>
            <a:r>
              <a:rPr sz="1400">
                <a:solidFill>
                  <a:srgbClr val="262626"/>
                </a:solidFill>
                <a:latin typeface="Calibri"/>
              </a:rPr>
              <a:t>47.9% of citywide OT spend ($2.09M) at $48.00/hr — above the 10% threshold 12 of 12 months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Sanitation winter-peaked (52.9% of OT Nov–Mar); Parks summer-peaked (44.6% May–Aug) </a:t>
            </a:r>
            <a:r>
              <a:rPr sz="1400">
                <a:solidFill>
                  <a:srgbClr val="262626"/>
                </a:solidFill>
                <a:latin typeface="Calibri"/>
              </a:rPr>
              <a:t>— complementary cycles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Total personnel cost: </a:t>
            </a:r>
            <a:r>
              <a:rPr sz="1400">
                <a:solidFill>
                  <a:srgbClr val="262626"/>
                </a:solidFill>
                <a:latin typeface="Calibri"/>
              </a:rPr>
              <a:t>$32.74M ($28.39M payroll + $4.35M overtime)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Service Outcomes Slip Where Staffing Is Thinnest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FY2024 311 performance: 500 requests • 437 closed • 63 open • 10.1% beyond 30 days • satisfaction 3.63 / 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32588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Transportation: </a:t>
            </a:r>
            <a:r>
              <a:rPr sz="1400">
                <a:solidFill>
                  <a:srgbClr val="262626"/>
                </a:solidFill>
                <a:latin typeface="Calibri"/>
              </a:rPr>
              <a:t>13.6-day average; Street Resurfacing cycle 45.2 days vs 30-day target (48.3% on-time); lowest satisfaction (3.36)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Health Services: </a:t>
            </a:r>
            <a:r>
              <a:rPr sz="1400">
                <a:solidFill>
                  <a:srgbClr val="262626"/>
                </a:solidFill>
                <a:latin typeface="Calibri"/>
              </a:rPr>
              <a:t>high-priority requests average 13.9 days — worst in city for priority work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8 of 25 processes </a:t>
            </a:r>
            <a:r>
              <a:rPr sz="1400">
                <a:solidFill>
                  <a:srgbClr val="262626"/>
                </a:solidFill>
                <a:latin typeface="Calibri"/>
              </a:rPr>
              <a:t>miss the 65% on-time standard — incl. Illegal Dumping (54.2%) and Fire Plan Review (59.6%)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Fire delivers best citizen results </a:t>
            </a:r>
            <a:r>
              <a:rPr sz="1400">
                <a:solidFill>
                  <a:srgbClr val="262626"/>
                </a:solidFill>
                <a:latin typeface="Calibri"/>
              </a:rPr>
              <a:t>(3.8 days, 4.23 satisfaction) — its overtime is buying continuity, not waste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Root Cause: The Manual-Process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All 8 below-threshold processes are Manual — neither proposal as written fixes this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325880"/>
          <a:ext cx="56692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4630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Manual (11 processes): </a:t>
            </a:r>
            <a:r>
              <a:rPr sz="1400">
                <a:solidFill>
                  <a:srgbClr val="262626"/>
                </a:solidFill>
                <a:latin typeface="Calibri"/>
              </a:rPr>
              <a:t>63.6% on-time • 5.9% error • 16.1-day cycles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Semi-Automated (11): </a:t>
            </a:r>
            <a:r>
              <a:rPr sz="1400">
                <a:solidFill>
                  <a:srgbClr val="262626"/>
                </a:solidFill>
                <a:latin typeface="Calibri"/>
              </a:rPr>
              <a:t>80.8% on-time • 3.7% error • 4.1-day cycles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Automated (3): </a:t>
            </a:r>
            <a:r>
              <a:rPr sz="1400">
                <a:solidFill>
                  <a:srgbClr val="262626"/>
                </a:solidFill>
                <a:latin typeface="Calibri"/>
              </a:rPr>
              <a:t>94.8% on-time • 1.4% error • 1.1-day cycles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1F4E79"/>
                </a:solidFill>
                <a:latin typeface="Calibri"/>
              </a:rPr>
              <a:t>Implication: </a:t>
            </a:r>
            <a:r>
              <a:rPr sz="1400">
                <a:solidFill>
                  <a:srgbClr val="262626"/>
                </a:solidFill>
                <a:latin typeface="Calibri"/>
              </a:rPr>
              <a:t>reorganization alone cannot lift Street Resurfacing (48.3%) or Plan Review (59.6%) — automation triage is required under either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NYC Benchmark — Staffing Trends (NYS Comptroller, Report 2-2025)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Greenfield exceeds every NYC analog on vacancy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71600"/>
          <a:ext cx="6675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Greenfield Dept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NYC Analog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NYC Vacancy Jan 2024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Greenfield FY2024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Transportation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DOT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14.9%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Health Services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DOHMH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 anchor="t" marT="18288" marB="18288">
                    <a:solidFill>
                      <a:srgbClr val="FCE4E4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Parks &amp; Recreation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DPR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5.2%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Sanitation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DSNY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≈0%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Fire Department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FDNY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NYC citywide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5.1% (Jan 2024)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37160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Post-pandemic scarring: </a:t>
            </a:r>
            <a:r>
              <a:rPr sz="1300">
                <a:solidFill>
                  <a:srgbClr val="262626"/>
                </a:solidFill>
                <a:latin typeface="Calibri"/>
              </a:rPr>
              <a:t>citywide vacancy peaked 8.4% (Dec 2022) — still ~2.5× the 2.0% pre-pandemic norm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Attrition: </a:t>
            </a:r>
            <a:r>
              <a:rPr sz="1300">
                <a:solidFill>
                  <a:srgbClr val="262626"/>
                </a:solidFill>
                <a:latin typeface="Calibri"/>
              </a:rPr>
              <a:t>19,080 → 25,966 (FY23) → 21,503 (FY24); FDNY +52% vs pre-pandemic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Overtime: </a:t>
            </a:r>
            <a:r>
              <a:rPr sz="1300">
                <a:solidFill>
                  <a:srgbClr val="262626"/>
                </a:solidFill>
                <a:latin typeface="Calibri"/>
              </a:rPr>
              <a:t>$1.8B through Mar 2024 vs $1.1B three years earlier; OT share of payroll 7.0% → 10.8%; FDNY Fire-Ext division OT share 40.3%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What worked: </a:t>
            </a:r>
            <a:r>
              <a:rPr sz="1300">
                <a:solidFill>
                  <a:srgbClr val="262626"/>
                </a:solidFill>
                <a:latin typeface="Calibri"/>
              </a:rPr>
              <a:t>centralized, faster hiring — DCAS exam turnaround 318 → 219 → 169 days; vacancies 25,714 → 15,266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NYC Benchmark — Service &amp; Cost Context (Mayor’s Management Report)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Directional context only: Greenfield operates at 4–18% of NYC per-employee resourcing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6675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Indicator (FY2026 snapshot)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DOT — pothole repair meeting 30-day close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98%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DOHMH — food establishment inspection SLA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Met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FDNY — EMS life-threatening response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9:32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6:55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Missed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FDNY — structural fire response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4:37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4:14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Missed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520440"/>
          <a:ext cx="6675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/>
                <a:gridCol w="1668780"/>
                <a:gridCol w="1668780"/>
                <a:gridCol w="166878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NYC $ / Employee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Greenfield $ / Filled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GF ÷ NYC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Parks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$435,701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$5,167,460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10.8%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Sanitation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$565,576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$4,936,977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Transportation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$854,032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$6,188,779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$1,650,580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$5,360,490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Fire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$439,665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$11,090,712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371600"/>
            <a:ext cx="4389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Well-staffed routine processes hold up </a:t>
            </a:r>
            <a:r>
              <a:rPr sz="1300">
                <a:solidFill>
                  <a:srgbClr val="262626"/>
                </a:solidFill>
                <a:latin typeface="Calibri"/>
              </a:rPr>
              <a:t>(potholes 100% vs 98% target) even under citywide stress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Response-time services degrade when staffing tightens </a:t>
            </a:r>
            <a:r>
              <a:rPr sz="1300">
                <a:solidFill>
                  <a:srgbClr val="262626"/>
                </a:solidFill>
                <a:latin typeface="Calibri"/>
              </a:rPr>
              <a:t>— FDNY EMS/fire misses mirror Greenfield Fire’s OT dependence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Sizing caveat: </a:t>
            </a:r>
            <a:r>
              <a:rPr sz="1300">
                <a:solidFill>
                  <a:srgbClr val="262626"/>
                </a:solidFill>
                <a:latin typeface="Calibri"/>
              </a:rPr>
              <a:t>NYC $/employee includes fringe + OTPS; use for direction, not parity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Proposal A — "Consolidate"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Merge Health + Parks → Community Wellness; Sanitation + Transportation → Public Works; Fire standalone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Merged Dept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 / Filled / Vac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Vacancy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OT $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Community Wellness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212 / 190 / 22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10.4%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$979,350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Public Works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242 / 215 / 27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11.2%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$1,289,856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017520"/>
          <a:ext cx="5760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Financial Model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De-duplication: 4 admin FTE × $85K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$340,000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PW overtime −10%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$128,986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CW overtime −5%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$48,968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Annual savings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$517,954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One-time cost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($150,000)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Year-1 net (50% realization)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$108,977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Bottlenecks: </a:t>
            </a:r>
            <a:r>
              <a:rPr sz="1300">
                <a:solidFill>
                  <a:srgbClr val="262626"/>
                </a:solidFill>
                <a:latin typeface="Calibri"/>
              </a:rPr>
              <a:t>SLA lift only +2.9 pts; 6 of 8 red processes remain; Street Resurfacing &amp; Plan Review get zero lift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OT structure: </a:t>
            </a:r>
            <a:r>
              <a:rPr sz="1300">
                <a:solidFill>
                  <a:srgbClr val="262626"/>
                </a:solidFill>
                <a:latin typeface="Calibri"/>
              </a:rPr>
              <a:t>Fire (47.9% of citywide OT) untouched; blending dilutes rates; −10% PW assumes bargaining flexibility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Service risk: </a:t>
            </a:r>
            <a:r>
              <a:rPr sz="1300">
                <a:solidFill>
                  <a:srgbClr val="262626"/>
                </a:solidFill>
                <a:latin typeface="Calibri"/>
              </a:rPr>
              <a:t>merger transition dip (12–18 mo); 63 open 311 cases change queue ownership mid-stream; Health priority work inherits lower-rate staffing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Workforce: </a:t>
            </a:r>
            <a:r>
              <a:rPr sz="1300">
                <a:solidFill>
                  <a:srgbClr val="262626"/>
                </a:solidFill>
                <a:latin typeface="Calibri"/>
              </a:rPr>
              <a:t>49 of 54 vacancies land in the two merged depts (10.4% / 11.2%) — concentration, not cure; forced de-dup in a 9.1%-vacancy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Proposal B — "Targeted Fix"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Keep 5 departments: centralized hiring + targeted hires + cross-training + shared OT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67665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Trigger: 8 divisions &gt; 12% vacancy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230 auth • 36 vac (15.7%) — all Transportation &amp; Health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Centralized hiring unit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 HR FTE ($150K/yr); NYC DCAS precedent (169-day turnaround)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Hires + fills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20 hires (12 Transportation, 8 Health) + 5 Fire fills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Cross-training pool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40 staff (12 Parks / 14 Sanitation / 14 Transportation)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Shared OT budget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Departments above 10% OT-to-regular-hours threshold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3977639"/>
          <a:ext cx="6766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Financial Model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XT OT savings (Sanitation + Parks)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$142,428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Fire fills avoid 7,500 OT hrs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$360,000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Fire scheduling reform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$189,563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Less: Fire fill payroll (in-budget)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($328,665)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Net annual savings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$531,991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One-time / Year-1 net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$224,000 / +$41,996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371600"/>
            <a:ext cx="4297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Bottlenecks: </a:t>
            </a:r>
            <a:r>
              <a:rPr sz="1300">
                <a:solidFill>
                  <a:srgbClr val="262626"/>
                </a:solidFill>
                <a:latin typeface="Calibri"/>
              </a:rPr>
              <a:t>SLA lift +6.9 pts; red processes 8 → 3; 311 avg 10.8 → 9.5 days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OT structure: </a:t>
            </a:r>
            <a:r>
              <a:rPr sz="1300">
                <a:solidFill>
                  <a:srgbClr val="262626"/>
                </a:solidFill>
                <a:latin typeface="Calibri"/>
              </a:rPr>
              <a:t>directly attacks Fire’s 13,618 excess hrs ($653,664); residual $104,112 managed into FY2026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Service risk: </a:t>
            </a:r>
            <a:r>
              <a:rPr sz="1300">
                <a:solidFill>
                  <a:srgbClr val="262626"/>
                </a:solidFill>
                <a:latin typeface="Calibri"/>
              </a:rPr>
              <a:t>lowest — no boundary changes; hires land in the worst-SLA divisions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F4E79"/>
                </a:solidFill>
                <a:latin typeface="Calibri"/>
              </a:rPr>
              <a:t>Workforce: </a:t>
            </a:r>
            <a:r>
              <a:rPr sz="1300">
                <a:solidFill>
                  <a:srgbClr val="262626"/>
                </a:solidFill>
                <a:latin typeface="Calibri"/>
              </a:rPr>
              <a:t>vacancy 9.1% → 4.9% (Transportation 6.0%, Health 8.3%, Fire 0%); 27 FTE reallocated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Head-to-Head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Weighted score: savings 25% • SLA lift 30% • complexity 20% • risk 25%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6675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2225040"/>
                <a:gridCol w="2225040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Proposal A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Proposal B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Annual savings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$517,954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$531,991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Year-1 net cash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$108,977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$41,996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FTE reallocated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Avg SLA lift (8 red processes)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+2.9 pts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+6.9 pts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Below-threshold after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6 of 8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 of 8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311 average after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10.2 days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9.5 days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Vacancy after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Complexity / Risk (1–5)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 / 3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4 / 2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Fire structural OT addressed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406640" y="1463040"/>
          <a:ext cx="42976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57150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Calibri"/>
              </a:rPr>
              <a:t>B = 2.89  vs  A = 1.81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Recommendation: B Framework + Two Supplements + One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F4E79"/>
                </a:solidFill>
                <a:latin typeface="Calibri"/>
              </a:rPr>
              <a:t>1. Proposal B framework. </a:t>
            </a:r>
            <a:r>
              <a:rPr sz="1600">
                <a:solidFill>
                  <a:srgbClr val="262626"/>
                </a:solidFill>
                <a:latin typeface="Calibri"/>
              </a:rPr>
              <a:t>Centralized hiring, 20 targeted hires + 5 Fire fills, 40-person cross-training pool, shared OT budget. Net annual $531,991 • Year-1 net +$41,996 • vacancy 9.1% → 4.9% • SLA lift +6.9 pts • red processes 8 → 3.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4E79"/>
                </a:solidFill>
                <a:latin typeface="Calibri"/>
              </a:rPr>
              <a:t>2. A-lite: Shared Fleet &amp; Routing Compact. </a:t>
            </a:r>
            <a:r>
              <a:rPr sz="1600">
                <a:solidFill>
                  <a:srgbClr val="262626"/>
                </a:solidFill>
                <a:latin typeface="Calibri"/>
              </a:rPr>
              <a:t>Voluntary Sanitation–Transportation fleet/routing coordination during Sanitation’s winter OT peak (52.9% of its annual OT) — captures ~$129K of Proposal A’s OT-sharing benefit without merger governance risk.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4E79"/>
                </a:solidFill>
                <a:latin typeface="Calibri"/>
              </a:rPr>
              <a:t>3. Automation triage. </a:t>
            </a:r>
            <a:r>
              <a:rPr sz="1600">
                <a:solidFill>
                  <a:srgbClr val="262626"/>
                </a:solidFill>
                <a:latin typeface="Calibri"/>
              </a:rPr>
              <a:t>90-day assessment of the 8 manual, below-threshold processes (Manual 63.6% vs Automated 94.8% on-time) — the only lever that moves Street Resurfacing (48.3%) and Plan Review (59.6%) under either proposal; funded from realized OT savings.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F4E79"/>
                </a:solidFill>
                <a:latin typeface="Calibri"/>
              </a:rPr>
              <a:t>4. 12-month review gate. </a:t>
            </a:r>
            <a:r>
              <a:rPr sz="1600">
                <a:solidFill>
                  <a:srgbClr val="262626"/>
                </a:solidFill>
                <a:latin typeface="Calibri"/>
              </a:rPr>
              <a:t>Council reconvenes on vacancy, OT share, SLA compliance, and 311 backlog before FY2027 budget adoption; unused hiring appropriation lapses if milestone SLAs are missed.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Decision Requested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Adopt Proposal B framework with A-lite compact and automation triage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63040"/>
          <a:ext cx="11384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140"/>
                <a:gridCol w="56921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Timing</a:t>
                      </a:r>
                    </a:p>
                  </a:txBody>
                  <a:tcPr anchor="t" marT="18288" marB="18288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Adopt B framework; appropriate $224K one-time + $160K annual program funding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Council vote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Stand up centralized hiring unit; post 20 requisitions; begin 5 Fire fills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Days 1–90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Execute Shared Fleet &amp; Routing Compact; commission automation triage (8 manual processes)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Days 1–90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Track vacancy, OT %, SLA compliance, 311 backlog; corrective triggers pre-approved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Quarterly</a:t>
                      </a:r>
                    </a:p>
                  </a:txBody>
                  <a:tcPr anchor="t" marT="18288" marB="18288">
                    <a:solidFill>
                      <a:srgbClr val="DDEB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12-month review gate before FY2027 budget adoption; appropriation lapses if SLAs missed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Calibri"/>
                        </a:rPr>
                        <a:t>Month 12</a:t>
                      </a:r>
                    </a:p>
                  </a:txBody>
                  <a:tcPr anchor="t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493776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  <a:latin typeface="Calibri"/>
              </a:rPr>
              <a:t>All figures trace to the locked cost-benefit model mirrored in the companion workbook (Tabs 1–4) and briefing memorandum. Benchmarks: NYS Comptroller Report 2-2025; NYC Mayor’s Management Report (dataset rbed-zzin).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