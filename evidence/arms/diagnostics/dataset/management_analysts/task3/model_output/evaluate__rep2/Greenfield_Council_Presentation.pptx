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Parks &amp; Recreation</c:v>
                </c:pt>
              </c:strCache>
            </c:strRef>
          </c:tx>
          <c:spPr>
            <a:ln w="28575">
              <a:solidFill>
                <a:srgbClr val="4472C4"/>
              </a:solidFill>
            </a:ln>
          </c:spPr>
          <c:cat>
            <c:strRef>
              <c:f>Sheet1!$A$2:$A$13</c:f>
              <c:strCache>
                <c:ptCount val="12"/>
                <c:pt idx="0">
                  <c:v>Jul 2023</c:v>
                </c:pt>
                <c:pt idx="1">
                  <c:v>Aug 2023</c:v>
                </c:pt>
                <c:pt idx="2">
                  <c:v>Sep 2023</c:v>
                </c:pt>
                <c:pt idx="3">
                  <c:v>Oct 2023</c:v>
                </c:pt>
                <c:pt idx="4">
                  <c:v>Nov 2023</c:v>
                </c:pt>
                <c:pt idx="5">
                  <c:v>Dec 2023</c:v>
                </c:pt>
                <c:pt idx="6">
                  <c:v>Jan 2024</c:v>
                </c:pt>
                <c:pt idx="7">
                  <c:v>Feb 2024</c:v>
                </c:pt>
                <c:pt idx="8">
                  <c:v>Mar 2024</c:v>
                </c:pt>
                <c:pt idx="9">
                  <c:v>Apr 2024</c:v>
                </c:pt>
                <c:pt idx="10">
                  <c:v>May 2024</c:v>
                </c:pt>
                <c:pt idx="11">
                  <c:v>Jun 2024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8.0</c:v>
                </c:pt>
                <c:pt idx="1">
                  <c:v>9.0</c:v>
                </c:pt>
                <c:pt idx="2">
                  <c:v>7.1</c:v>
                </c:pt>
                <c:pt idx="3">
                  <c:v>5.6</c:v>
                </c:pt>
                <c:pt idx="4">
                  <c:v>4.2</c:v>
                </c:pt>
                <c:pt idx="5">
                  <c:v>4.0</c:v>
                </c:pt>
                <c:pt idx="6">
                  <c:v>4.0</c:v>
                </c:pt>
                <c:pt idx="7">
                  <c:v>4.5</c:v>
                </c:pt>
                <c:pt idx="8">
                  <c:v>4.6</c:v>
                </c:pt>
                <c:pt idx="9">
                  <c:v>6.1</c:v>
                </c:pt>
                <c:pt idx="10">
                  <c:v>7.5</c:v>
                </c:pt>
                <c:pt idx="11">
                  <c:v>8.1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Sanitation</c:v>
                </c:pt>
              </c:strCache>
            </c:strRef>
          </c:tx>
          <c:spPr>
            <a:ln w="28575">
              <a:solidFill>
                <a:srgbClr val="ED7D31"/>
              </a:solidFill>
            </a:ln>
          </c:spPr>
          <c:cat>
            <c:strRef>
              <c:f>Sheet1!$A$2:$A$13</c:f>
              <c:strCache>
                <c:ptCount val="12"/>
                <c:pt idx="0">
                  <c:v>Jul 2023</c:v>
                </c:pt>
                <c:pt idx="1">
                  <c:v>Aug 2023</c:v>
                </c:pt>
                <c:pt idx="2">
                  <c:v>Sep 2023</c:v>
                </c:pt>
                <c:pt idx="3">
                  <c:v>Oct 2023</c:v>
                </c:pt>
                <c:pt idx="4">
                  <c:v>Nov 2023</c:v>
                </c:pt>
                <c:pt idx="5">
                  <c:v>Dec 2023</c:v>
                </c:pt>
                <c:pt idx="6">
                  <c:v>Jan 2024</c:v>
                </c:pt>
                <c:pt idx="7">
                  <c:v>Feb 2024</c:v>
                </c:pt>
                <c:pt idx="8">
                  <c:v>Mar 2024</c:v>
                </c:pt>
                <c:pt idx="9">
                  <c:v>Apr 2024</c:v>
                </c:pt>
                <c:pt idx="10">
                  <c:v>May 2024</c:v>
                </c:pt>
                <c:pt idx="11">
                  <c:v>Jun 2024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7.3</c:v>
                </c:pt>
                <c:pt idx="1">
                  <c:v>7.3</c:v>
                </c:pt>
                <c:pt idx="2">
                  <c:v>7.7</c:v>
                </c:pt>
                <c:pt idx="3">
                  <c:v>9.2</c:v>
                </c:pt>
                <c:pt idx="4">
                  <c:v>10.0</c:v>
                </c:pt>
                <c:pt idx="5">
                  <c:v>13.5</c:v>
                </c:pt>
                <c:pt idx="6">
                  <c:v>14.4</c:v>
                </c:pt>
                <c:pt idx="7">
                  <c:v>12.7</c:v>
                </c:pt>
                <c:pt idx="8">
                  <c:v>11.5</c:v>
                </c:pt>
                <c:pt idx="9">
                  <c:v>8.9</c:v>
                </c:pt>
                <c:pt idx="10">
                  <c:v>8.1</c:v>
                </c:pt>
                <c:pt idx="11">
                  <c:v>6.8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Transportation</c:v>
                </c:pt>
              </c:strCache>
            </c:strRef>
          </c:tx>
          <c:spPr>
            <a:ln w="28575">
              <a:solidFill>
                <a:srgbClr val="A5A5A5"/>
              </a:solidFill>
            </a:ln>
          </c:spPr>
          <c:cat>
            <c:strRef>
              <c:f>Sheet1!$A$2:$A$13</c:f>
              <c:strCache>
                <c:ptCount val="12"/>
                <c:pt idx="0">
                  <c:v>Jul 2023</c:v>
                </c:pt>
                <c:pt idx="1">
                  <c:v>Aug 2023</c:v>
                </c:pt>
                <c:pt idx="2">
                  <c:v>Sep 2023</c:v>
                </c:pt>
                <c:pt idx="3">
                  <c:v>Oct 2023</c:v>
                </c:pt>
                <c:pt idx="4">
                  <c:v>Nov 2023</c:v>
                </c:pt>
                <c:pt idx="5">
                  <c:v>Dec 2023</c:v>
                </c:pt>
                <c:pt idx="6">
                  <c:v>Jan 2024</c:v>
                </c:pt>
                <c:pt idx="7">
                  <c:v>Feb 2024</c:v>
                </c:pt>
                <c:pt idx="8">
                  <c:v>Mar 2024</c:v>
                </c:pt>
                <c:pt idx="9">
                  <c:v>Apr 2024</c:v>
                </c:pt>
                <c:pt idx="10">
                  <c:v>May 2024</c:v>
                </c:pt>
                <c:pt idx="11">
                  <c:v>Jun 2024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7.4</c:v>
                </c:pt>
                <c:pt idx="1">
                  <c:v>7.3</c:v>
                </c:pt>
                <c:pt idx="2">
                  <c:v>7.4</c:v>
                </c:pt>
                <c:pt idx="3">
                  <c:v>8.1</c:v>
                </c:pt>
                <c:pt idx="4">
                  <c:v>8.4</c:v>
                </c:pt>
                <c:pt idx="5">
                  <c:v>10.2</c:v>
                </c:pt>
                <c:pt idx="6">
                  <c:v>10.9</c:v>
                </c:pt>
                <c:pt idx="7">
                  <c:v>9.4</c:v>
                </c:pt>
                <c:pt idx="8">
                  <c:v>8.4</c:v>
                </c:pt>
                <c:pt idx="9">
                  <c:v>7.8</c:v>
                </c:pt>
                <c:pt idx="10">
                  <c:v>7.8</c:v>
                </c:pt>
                <c:pt idx="11">
                  <c:v>7.2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Health Services</c:v>
                </c:pt>
              </c:strCache>
            </c:strRef>
          </c:tx>
          <c:spPr>
            <a:ln w="28575">
              <a:solidFill>
                <a:srgbClr val="FFC000"/>
              </a:solidFill>
            </a:ln>
          </c:spPr>
          <c:cat>
            <c:strRef>
              <c:f>Sheet1!$A$2:$A$13</c:f>
              <c:strCache>
                <c:ptCount val="12"/>
                <c:pt idx="0">
                  <c:v>Jul 2023</c:v>
                </c:pt>
                <c:pt idx="1">
                  <c:v>Aug 2023</c:v>
                </c:pt>
                <c:pt idx="2">
                  <c:v>Sep 2023</c:v>
                </c:pt>
                <c:pt idx="3">
                  <c:v>Oct 2023</c:v>
                </c:pt>
                <c:pt idx="4">
                  <c:v>Nov 2023</c:v>
                </c:pt>
                <c:pt idx="5">
                  <c:v>Dec 2023</c:v>
                </c:pt>
                <c:pt idx="6">
                  <c:v>Jan 2024</c:v>
                </c:pt>
                <c:pt idx="7">
                  <c:v>Feb 2024</c:v>
                </c:pt>
                <c:pt idx="8">
                  <c:v>Mar 2024</c:v>
                </c:pt>
                <c:pt idx="9">
                  <c:v>Apr 2024</c:v>
                </c:pt>
                <c:pt idx="10">
                  <c:v>May 2024</c:v>
                </c:pt>
                <c:pt idx="11">
                  <c:v>Jun 2024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6.2</c:v>
                </c:pt>
                <c:pt idx="1">
                  <c:v>6.7</c:v>
                </c:pt>
                <c:pt idx="2">
                  <c:v>6.5</c:v>
                </c:pt>
                <c:pt idx="3">
                  <c:v>7.5</c:v>
                </c:pt>
                <c:pt idx="4">
                  <c:v>7.4</c:v>
                </c:pt>
                <c:pt idx="5">
                  <c:v>8.3</c:v>
                </c:pt>
                <c:pt idx="6">
                  <c:v>7.8</c:v>
                </c:pt>
                <c:pt idx="7">
                  <c:v>7.6</c:v>
                </c:pt>
                <c:pt idx="8">
                  <c:v>7.4</c:v>
                </c:pt>
                <c:pt idx="9">
                  <c:v>7.0</c:v>
                </c:pt>
                <c:pt idx="10">
                  <c:v>6.6</c:v>
                </c:pt>
                <c:pt idx="11">
                  <c:v>6.4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Fire Department</c:v>
                </c:pt>
              </c:strCache>
            </c:strRef>
          </c:tx>
          <c:spPr>
            <a:ln w="28575">
              <a:solidFill>
                <a:srgbClr val="C00000"/>
              </a:solidFill>
            </a:ln>
          </c:spPr>
          <c:cat>
            <c:strRef>
              <c:f>Sheet1!$A$2:$A$13</c:f>
              <c:strCache>
                <c:ptCount val="12"/>
                <c:pt idx="0">
                  <c:v>Jul 2023</c:v>
                </c:pt>
                <c:pt idx="1">
                  <c:v>Aug 2023</c:v>
                </c:pt>
                <c:pt idx="2">
                  <c:v>Sep 2023</c:v>
                </c:pt>
                <c:pt idx="3">
                  <c:v>Oct 2023</c:v>
                </c:pt>
                <c:pt idx="4">
                  <c:v>Nov 2023</c:v>
                </c:pt>
                <c:pt idx="5">
                  <c:v>Dec 2023</c:v>
                </c:pt>
                <c:pt idx="6">
                  <c:v>Jan 2024</c:v>
                </c:pt>
                <c:pt idx="7">
                  <c:v>Feb 2024</c:v>
                </c:pt>
                <c:pt idx="8">
                  <c:v>Mar 2024</c:v>
                </c:pt>
                <c:pt idx="9">
                  <c:v>Apr 2024</c:v>
                </c:pt>
                <c:pt idx="10">
                  <c:v>May 2024</c:v>
                </c:pt>
                <c:pt idx="11">
                  <c:v>Jun 2024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14.2</c:v>
                </c:pt>
                <c:pt idx="1">
                  <c:v>13.5</c:v>
                </c:pt>
                <c:pt idx="2">
                  <c:v>14.2</c:v>
                </c:pt>
                <c:pt idx="3">
                  <c:v>14.9</c:v>
                </c:pt>
                <c:pt idx="4">
                  <c:v>15.1</c:v>
                </c:pt>
                <c:pt idx="5">
                  <c:v>15.8</c:v>
                </c:pt>
                <c:pt idx="6">
                  <c:v>14.8</c:v>
                </c:pt>
                <c:pt idx="7">
                  <c:v>14.1</c:v>
                </c:pt>
                <c:pt idx="8">
                  <c:v>13.0</c:v>
                </c:pt>
                <c:pt idx="9">
                  <c:v>14.8</c:v>
                </c:pt>
                <c:pt idx="10">
                  <c:v>15.8</c:v>
                </c:pt>
                <c:pt idx="11">
                  <c:v>14.5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Year-1 net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Sheet1!$A$2:$A$4</c:f>
              <c:strCache>
                <c:ptCount val="3"/>
                <c:pt idx="0">
                  <c:v>Proposal A</c:v>
                </c:pt>
                <c:pt idx="1">
                  <c:v>Proposal B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-205434.24</c:v>
                </c:pt>
                <c:pt idx="1">
                  <c:v>59.08</c:v>
                </c:pt>
                <c:pt idx="2">
                  <c:v>89551.89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3-yr cumulative net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Proposal A</c:v>
                </c:pt>
                <c:pt idx="1">
                  <c:v>Proposal B</c:v>
                </c:pt>
                <c:pt idx="2">
                  <c:v>Hybrid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1972828.82</c:v>
                </c:pt>
                <c:pt idx="1">
                  <c:v>532763.7</c:v>
                </c:pt>
                <c:pt idx="2">
                  <c:v>1580027.75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Departmental Restructuring</a:t>
            </a:r>
          </a:p>
          <a:p>
            <a:r>
              <a:rPr sz="2400">
                <a:solidFill>
                  <a:srgbClr val="D6E4F7"/>
                </a:solidFill>
              </a:rPr>
              <a:t>Decision Briefing to the City Council</a:t>
            </a:r>
          </a:p>
          <a:p>
            <a:r>
              <a:rPr sz="1600">
                <a:solidFill>
                  <a:srgbClr val="D6E4F7"/>
                </a:solidFill>
              </a:rPr>
              <a:t>Proposal A (Consolidate)  vs.  Proposal B (Targeted Fix)  —  and a recommended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DB4D6"/>
                </a:solidFill>
              </a:rPr>
              <a:t>City of Greenfield  |  Office of the City Manager  |  October 2026  |  5 departments · 596 authorized · 542 filled positions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Why We Are Here</a:t>
            </a:r>
          </a:p>
          <a:p>
            <a:r>
              <a:rPr sz="1300" i="1">
                <a:solidFill>
                  <a:srgbClr val="595959"/>
                </a:solidFill>
              </a:rPr>
              <a:t>FY2024 baseline: the latest complete year of staffing, overtime, 311 and process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32688"/>
            <a:ext cx="11338560" cy="285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</a:rPr>
              <a:t>▪ </a:t>
            </a:r>
            <a:r>
              <a:rPr sz="1600" b="1">
                <a:solidFill>
                  <a:srgbClr val="262626"/>
                </a:solidFill>
              </a:rPr>
              <a:t>Council votes today on restructuring five operating departments into three (Proposal A) or fixing targeted failure points within five (Proposal B).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</a:rPr>
              <a:t>• </a:t>
            </a:r>
            <a:r>
              <a:rPr sz="1600" b="0">
                <a:solidFill>
                  <a:srgbClr val="262626"/>
                </a:solidFill>
              </a:rPr>
              <a:t>Citywide vacancy is 9.06% (596 authorized vs 542 filled) — unevenly spread: 16.7% in Health Services and 14.9% in Transportation, but 3.5% in Fire.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</a:rPr>
              <a:t>• </a:t>
            </a:r>
            <a:r>
              <a:rPr sz="1600" b="0">
                <a:solidFill>
                  <a:srgbClr val="262626"/>
                </a:solidFill>
              </a:rPr>
              <a:t>Overtime costs $4,354,518/yr — 9.59% of regular hours — and is concentrated: Fire alone is 47.9% of citywide OT.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</a:rPr>
              <a:t>• </a:t>
            </a:r>
            <a:r>
              <a:rPr sz="1600" b="0">
                <a:solidFill>
                  <a:srgbClr val="262626"/>
                </a:solidFill>
              </a:rPr>
              <a:t>Residents feel it: 311 requests average 10.79 days to resolve, 63 are still open (47 older than 90 days), and 8 of 25 business processes miss the 65% on-time standard.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</a:rPr>
              <a:t>▪ </a:t>
            </a:r>
            <a:r>
              <a:rPr sz="1600" b="1">
                <a:solidFill>
                  <a:srgbClr val="262626"/>
                </a:solidFill>
              </a:rPr>
              <a:t>Vacancy correlates with slower service (r = +0.67) and lower satisfaction (r = −0.52). Staffing health is service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Current Operational Health — Department Scorecard</a:t>
            </a:r>
          </a:p>
          <a:p>
            <a:r>
              <a:rPr sz="1300" i="1">
                <a:solidFill>
                  <a:srgbClr val="595959"/>
                </a:solidFill>
              </a:rPr>
              <a:t>Red = trigger breached: vacancy &gt;12% | OT &gt;10% of regular hours | on-time &lt;65%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32688"/>
            <a:ext cx="11338560" cy="285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34440"/>
                <a:gridCol w="1234440"/>
                <a:gridCol w="1371600"/>
                <a:gridCol w="1188720"/>
                <a:gridCol w="1097280"/>
                <a:gridCol w="1554480"/>
                <a:gridCol w="1005840"/>
              </a:tblGrid>
              <a:tr h="4876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Department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Vacancy 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OT 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OT cost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311 days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Satisf.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Worst on-time 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Procs &lt;65%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Parks &amp; Recreation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5.2%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6.05%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$453,960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12.5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3.55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</a:rPr>
                        <a:t>62.4%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Sanitation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6.5%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9.79%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$646,877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9.0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3.64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</a:rPr>
                        <a:t>54.2%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Transportation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</a:rPr>
                        <a:t>14.9%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8.36%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$642,979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13.6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3.36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</a:rPr>
                        <a:t>48.3%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Health Services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</a:rPr>
                        <a:t>16.7%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7.13%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$525,390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12.0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3.72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</a:rPr>
                        <a:t>64.1%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Fire Department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3.5%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</a:rPr>
                        <a:t>14.57%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$2,085,312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3.8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4.23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</a:rPr>
                        <a:t>59.6%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</a:rPr>
              <a:t>• </a:t>
            </a:r>
            <a:r>
              <a:rPr sz="1350" b="0">
                <a:solidFill>
                  <a:srgbClr val="262626"/>
                </a:solidFill>
              </a:rPr>
              <a:t>8 of 25 processes run below the 65% on-time standard; every Transportation field process measured is failing.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</a:rPr>
              <a:t>• </a:t>
            </a:r>
            <a:r>
              <a:rPr sz="1350" b="0">
                <a:solidFill>
                  <a:srgbClr val="262626"/>
                </a:solidFill>
              </a:rPr>
              <a:t>Fire OT exceeded 10% in all 12 months of FY2024 — the only department above the threshold year-round.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595959"/>
                </a:solidFill>
              </a:rPr>
              <a:t>• </a:t>
            </a:r>
            <a:r>
              <a:rPr sz="1350" b="0">
                <a:solidFill>
                  <a:srgbClr val="595959"/>
                </a:solidFill>
              </a:rPr>
              <a:t>Full detail with conditional formatting: Workbook, "Baseline Metrics" tab.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The Evidence: Overtime Is Filling In for Vacant Positions</a:t>
            </a:r>
          </a:p>
          <a:p>
            <a:r>
              <a:rPr sz="1300" i="1">
                <a:solidFill>
                  <a:srgbClr val="595959"/>
                </a:solidFill>
              </a:rPr>
              <a:t>Monthly overtime as % of regular hours, FY2024 — dotted line = 10% trigger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32688"/>
            <a:ext cx="11338560" cy="285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34440"/>
          <a:ext cx="74066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46720" y="13716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C00000"/>
                </a:solidFill>
              </a:rPr>
              <a:t>▪ </a:t>
            </a:r>
            <a:r>
              <a:rPr sz="1300" b="1">
                <a:solidFill>
                  <a:srgbClr val="C00000"/>
                </a:solidFill>
              </a:rPr>
              <a:t>Fire: above 10% in 12/12 months (avg 14.57%) — only OT-cap trigger.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F8F00"/>
                </a:solidFill>
              </a:rPr>
              <a:t>• </a:t>
            </a:r>
            <a:r>
              <a:rPr sz="1300" b="0">
                <a:solidFill>
                  <a:srgbClr val="BF8F00"/>
                </a:solidFill>
              </a:rPr>
              <a:t>Sanitation: 9.79% avg, 5 months above 10% — watch list.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F3864"/>
                </a:solidFill>
              </a:rPr>
              <a:t>• </a:t>
            </a:r>
            <a:r>
              <a:rPr sz="1300" b="0">
                <a:solidFill>
                  <a:srgbClr val="262626"/>
                </a:solidFill>
              </a:rPr>
              <a:t>Transportation &amp; Health: highest vacancy (14.9% / 16.7%), slowest 311 (13.6 / 12.0 days).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F3864"/>
                </a:solidFill>
              </a:rPr>
              <a:t>• </a:t>
            </a:r>
            <a:r>
              <a:rPr sz="1300" b="0">
                <a:solidFill>
                  <a:srgbClr val="262626"/>
                </a:solidFill>
              </a:rPr>
              <a:t>8 divisions exceed the 12% vacancy trigger — 36 vacancies, all in Transportation and Health.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NYC Benchmark: Greenfield Is Not an Outlier</a:t>
            </a:r>
          </a:p>
          <a:p>
            <a:r>
              <a:rPr sz="1300" i="1">
                <a:solidFill>
                  <a:srgbClr val="595959"/>
                </a:solidFill>
              </a:rPr>
              <a:t>Mayor's Management Report indicators + NYS Comptroller Report 2-2025 (pinned sources)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32688"/>
            <a:ext cx="11338560" cy="285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5760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1371600"/>
                <a:gridCol w="1234440"/>
                <a:gridCol w="5029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Department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NYC analog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NYC PS budget / FTE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Greenfield / employee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Ratio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Parks &amp; Recreation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DPR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$319,273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$46,977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0.15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Sanitation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DSNY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$333,726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$48,881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0.15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Transportation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DOT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$355,865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$54,288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0.15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Health Services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DOHMH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$346,254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$67,006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0.19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Fire Department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FDNY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$379,774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$80,954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0.21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976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</a:rPr>
              <a:t>• </a:t>
            </a:r>
            <a:r>
              <a:rPr sz="1350" b="0">
                <a:solidFill>
                  <a:srgbClr val="262626"/>
                </a:solidFill>
              </a:rPr>
              <a:t>NYC citywide vacancy 5.1% (Jan-24) vs ~2% pre-pandemic; Transportation program 6.7%→10.0%, Health 8.6%→9.3% — the same sectors Greenfield struggles with.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</a:rPr>
              <a:t>• </a:t>
            </a:r>
            <a:r>
              <a:rPr sz="1350" b="0">
                <a:solidFill>
                  <a:srgbClr val="262626"/>
                </a:solidFill>
              </a:rPr>
              <a:t>NYC overtime hit $1.81B in FY24 (10.8% of payroll, up from 7.0%) — OT substitutes for vacancies; FDNY fire-extinguishing OT share reached 40.3%.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</a:rPr>
              <a:t>• </a:t>
            </a:r>
            <a:r>
              <a:rPr sz="1350" b="0">
                <a:solidFill>
                  <a:srgbClr val="262626"/>
                </a:solidFill>
              </a:rPr>
              <a:t>Hiring is slow everywhere: DCAS exam turnaround 318→219→169 days (FY21→FY24). A dedicated recruitment function is a requirement, not a luxury.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</a:rPr>
              <a:t>• </a:t>
            </a:r>
            <a:r>
              <a:rPr sz="1350" b="0">
                <a:solidFill>
                  <a:srgbClr val="262626"/>
                </a:solidFill>
              </a:rPr>
              <a:t>Even best-in-class NYC misses some targets (FDNY EMS response) — Greenfield's slippage is a fixable operating problem, not structural failure.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80160"/>
            <a:ext cx="5074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</a:rPr>
              <a:t>Cost structure mirrors NYC: Fire most expensive per employee, Parks leanest.
(NYC PS budgets include pension &amp; fringe — ratio is a relative indicator only.)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Proposal A — "Consolidate"</a:t>
            </a:r>
          </a:p>
          <a:p>
            <a:r>
              <a:rPr sz="1300" i="1">
                <a:solidFill>
                  <a:srgbClr val="595959"/>
                </a:solidFill>
              </a:rPr>
              <a:t>Health + Parks → Community Wellness | Transportation + Sanitation → Public Works | Fire standalone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32688"/>
            <a:ext cx="11338560" cy="285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58521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64592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Fiscal model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OT savings (PW 20% + CW 10% of FY24 OT base)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$355,906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Admin elimination: 9 positions via attrition (×1.35 loaded)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$583,225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Shared fleet &amp; procurement (OTPS)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$150,000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Steady-state annual savings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$1,089,132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One-time transition cost (MOU, HRIS, fleet, team)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($750,000)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Year 1 net (50% realization)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</a:rPr>
                        <a:t>$-205,434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Years 2-3 net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$1,089,132/yr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3-year cumulative net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</a:rPr>
                        <a:t>$1,972,829</a:t>
                      </a:r>
                    </a:p>
                  </a:txBody>
                  <a:tcPr anchor="ctr">
                    <a:solidFill>
                      <a:srgbClr val="EDF2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29400" y="13716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F3864"/>
                </a:solidFill>
              </a:rPr>
              <a:t>• </a:t>
            </a:r>
            <a:r>
              <a:rPr sz="1400" b="0">
                <a:solidFill>
                  <a:srgbClr val="262626"/>
                </a:solidFill>
              </a:rPr>
              <a:t>FTEs reallocated: 24 (9 attrition-only + 15 flexible field)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F3864"/>
                </a:solidFill>
              </a:rPr>
              <a:t>• </a:t>
            </a:r>
            <a:r>
              <a:rPr sz="1400" b="0">
                <a:solidFill>
                  <a:srgbClr val="262626"/>
                </a:solidFill>
              </a:rPr>
              <a:t>SLA: +6.2pp avg on-time; 5 of 8 processes reach 65%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C00000"/>
                </a:solidFill>
              </a:rPr>
              <a:t>▪ </a:t>
            </a:r>
            <a:r>
              <a:rPr sz="1400" b="1">
                <a:solidFill>
                  <a:srgbClr val="C00000"/>
                </a:solidFill>
              </a:rPr>
              <a:t>Timeline 24 months; complexity 4/5; risk 4/5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C00000"/>
                </a:solidFill>
              </a:rPr>
              <a:t>▪ </a:t>
            </a:r>
            <a:r>
              <a:rPr sz="1400" b="1">
                <a:solidFill>
                  <a:srgbClr val="C00000"/>
                </a:solidFill>
              </a:rPr>
              <a:t>Leaves the city's largest OT cost center (Fire, $2.09M) untouched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C00000"/>
                </a:solidFill>
              </a:rPr>
              <a:t>• </a:t>
            </a:r>
            <a:r>
              <a:rPr sz="1400" b="0">
                <a:solidFill>
                  <a:srgbClr val="C00000"/>
                </a:solidFill>
              </a:rPr>
              <a:t>20% merged-routing OT savings is the least-supported assumption in either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1F3864"/>
                </a:solidFill>
              </a:rPr>
              <a:t>Verdict: largest steady-state savings — but a negative first year, merger-scale labor and systems risk during a 9.1%-vacancy hiring market, and no action on the Fire overtime problem.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Proposal B — "Targeted Fix"</a:t>
            </a:r>
          </a:p>
          <a:p>
            <a:r>
              <a:rPr sz="1300" i="1">
                <a:solidFill>
                  <a:srgbClr val="595959"/>
                </a:solidFill>
              </a:rPr>
              <a:t>Five departments stay; three interventions, each activated by an objective trigger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32688"/>
            <a:ext cx="11338560" cy="285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74066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828800"/>
                <a:gridCol w="2377440"/>
                <a:gridCol w="1280160"/>
              </a:tblGrid>
              <a:tr h="37719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Intervention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Trigger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Triggered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</a:rPr>
                        <a:t>OT budget cap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>Dept OT &gt;10%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>Fire (14.57%)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>$224,160</a:t>
                      </a:r>
                    </a:p>
                  </a:txBody>
                  <a:tcPr anchor="ctr"/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</a:rPr>
                        <a:t>Centralized hiring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>Division vacancy &gt;12%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>8 divisions · 36 vacancies · 22 Y1 fills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>$178,539 Y1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</a:rPr>
                        <a:t>Cross-training pools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>Shared surge processes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>3 pools · 45 members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>capability</a:t>
                      </a:r>
                    </a:p>
                  </a:txBody>
                  <a:tcPr anchor="ctr"/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</a:rPr>
                        <a:t>Program cost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>Hiring team $234.9K/yr + $56.7K training + $40K dashboard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</a:rPr>
                        <a:t>($249,900)/yr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</a:rPr>
                        <a:t>Year 1 net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>by design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>break-even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>$59</a:t>
                      </a:r>
                    </a:p>
                  </a:txBody>
                  <a:tcPr anchor="ctr"/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</a:rPr>
                        <a:t>Years 2-3 net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>steady state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>$266,352/yr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</a:rPr>
                        <a:t>3-year cumulative net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</a:rPr>
                        <a:t>$532,764</a:t>
                      </a:r>
                    </a:p>
                  </a:txBody>
                  <a:tcPr anchor="ctr">
                    <a:solidFill>
                      <a:srgbClr val="EDF2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83879" y="1371600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548235"/>
                </a:solidFill>
              </a:rPr>
              <a:t>▪ </a:t>
            </a:r>
            <a:r>
              <a:rPr sz="1250" b="1">
                <a:solidFill>
                  <a:srgbClr val="548235"/>
                </a:solidFill>
              </a:rPr>
              <a:t>SLA: +8.3pp avg on-time — the best of any option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1F3864"/>
                </a:solidFill>
              </a:rPr>
              <a:t>• </a:t>
            </a:r>
            <a:r>
              <a:rPr sz="1250" b="0">
                <a:solidFill>
                  <a:srgbClr val="262626"/>
                </a:solidFill>
              </a:rPr>
              <a:t>6 of 8 failing processes reach 65% (Plan Review 59.6→66.0; Illegal Dumping 54.2→67.0)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1F3864"/>
                </a:solidFill>
              </a:rPr>
              <a:t>• </a:t>
            </a:r>
            <a:r>
              <a:rPr sz="1250" b="0">
                <a:solidFill>
                  <a:srgbClr val="262626"/>
                </a:solidFill>
              </a:rPr>
              <a:t>No mergers, no CBA renegotiation; 12-month timeline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548235"/>
                </a:solidFill>
              </a:rPr>
              <a:t>▪ </a:t>
            </a:r>
            <a:r>
              <a:rPr sz="1250" b="1">
                <a:solidFill>
                  <a:srgbClr val="548235"/>
                </a:solidFill>
              </a:rPr>
              <a:t>Complexity 2/5 · risk 2/5 · 48 FTEs touched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BF8F00"/>
                </a:solidFill>
              </a:rPr>
              <a:t>• </a:t>
            </a:r>
            <a:r>
              <a:rPr sz="1250" b="0">
                <a:solidFill>
                  <a:srgbClr val="BF8F00"/>
                </a:solidFill>
              </a:rPr>
              <a:t>Watch list: Sanitation at 9.79% — mid-year re-evaluation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1F3864"/>
                </a:solidFill>
              </a:rPr>
              <a:t>Verdict: best service and risk profile, fastest to implement — but the lowest cumulative savings, and it leaves the fleet/procurement duplication that motivates consolidation unaddressed.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Head-to-Head</a:t>
            </a:r>
          </a:p>
          <a:p>
            <a:r>
              <a:rPr sz="1300" i="1">
                <a:solidFill>
                  <a:srgbClr val="595959"/>
                </a:solidFill>
              </a:rPr>
              <a:t>Transparent rubric: savings 30% | SLA gain 30% | complexity 20% | risk 20%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32688"/>
            <a:ext cx="11338560" cy="285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  <a:gridCol w="2377440"/>
                <a:gridCol w="2743200"/>
              </a:tblGrid>
              <a:tr h="44577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 — Consolidate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B — Targeted Fix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Hybrid (B + fleet pilot)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</a:rPr>
                        <a:t>Annual savings (3-yr avg net)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$657,610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$177,588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$526,676</a:t>
                      </a:r>
                    </a:p>
                  </a:txBody>
                  <a:tcPr anchor="ctr"/>
                </a:tc>
              </a:tr>
              <a:tr h="44577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</a:rPr>
                        <a:t>FTEs reallocated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48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</a:rPr>
                        <a:t>SLA improvement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+6.2pp · 5 fixed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+8.3pp · 6 fixed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+8.3pp · 6 fixed</a:t>
                      </a:r>
                    </a:p>
                  </a:txBody>
                  <a:tcPr anchor="ctr"/>
                </a:tc>
              </a:tr>
              <a:tr h="44577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</a:rPr>
                        <a:t>Complexity / risk (1-5)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4 / 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2 / 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3 / 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</a:rPr>
                        <a:t>Year-1 net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</a:rPr>
                        <a:t>$-205,434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$59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$89,552</a:t>
                      </a:r>
                    </a:p>
                  </a:txBody>
                  <a:tcPr anchor="ctr"/>
                </a:tc>
              </a:tr>
              <a:tr h="44577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</a:rPr>
                        <a:t>3-year cumulative net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$1,972,829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$532,764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$1,580,028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</a:rPr>
                        <a:t>SCORE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</a:rPr>
                        <a:t>3.2 / 5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</a:rPr>
                        <a:t>3.4 / 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375623"/>
                          </a:solidFill>
                        </a:rPr>
                        <a:t>3.6 / 5  ← recommended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595959"/>
                </a:solidFill>
              </a:rPr>
              <a:t>• </a:t>
            </a:r>
            <a:r>
              <a:rPr sz="1200" b="0">
                <a:solidFill>
                  <a:srgbClr val="595959"/>
                </a:solidFill>
              </a:rPr>
              <a:t>Scores are threshold-based, not tuned: savings ≥$900K=5 … &gt;0=1; SLA ≥8pp=5, ≥6pp=4 …; complexity/risk inverted.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Recommendation: A Phased Hybrid</a:t>
            </a:r>
          </a:p>
          <a:p>
            <a:r>
              <a:rPr sz="1300" i="1">
                <a:solidFill>
                  <a:srgbClr val="595959"/>
                </a:solidFill>
              </a:rPr>
              <a:t>Take Proposal B now — buy the evidence for (or against) consolidation later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32688"/>
            <a:ext cx="11338560" cy="285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3611880" cy="4206240"/>
          </a:xfrm>
          <a:prstGeom prst="rect">
            <a:avLst/>
          </a:prstGeom>
          <a:solidFill>
            <a:srgbClr val="EDF2FA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/>
            <a:r>
              <a:rPr sz="1200" b="1">
                <a:solidFill>
                  <a:srgbClr val="1F3864"/>
                </a:solidFill>
              </a:rPr>
              <a:t>PHASE 1  ·  months 0-12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</a:rPr>
              <a:t>Adopt Proposal B in full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262626"/>
                </a:solidFill>
              </a:rPr>
              <a:t>• Fire OT cap at 13% of regular hours (effective Q2)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262626"/>
                </a:solidFill>
              </a:rPr>
              <a:t>• Centralized hiring: 8 divisions, 36 vacancies, 22 Y1 fills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262626"/>
                </a:solidFill>
              </a:rPr>
              <a:t>• 3 cross-training pools (45 members) + hiring team + dashboard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262626"/>
                </a:solidFill>
              </a:rPr>
              <a:t>• Year-1 net: break-even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371600"/>
            <a:ext cx="3611880" cy="4206240"/>
          </a:xfrm>
          <a:prstGeom prst="rect">
            <a:avLst/>
          </a:prstGeom>
          <a:solidFill>
            <a:srgbClr val="EBF4E7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/>
            <a:r>
              <a:rPr sz="1200" b="1">
                <a:solidFill>
                  <a:srgbClr val="548235"/>
                </a:solidFill>
              </a:rPr>
              <a:t>PHASE 2  ·  months 6-24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</a:rPr>
              <a:t>Gated, reversible fleet-sharing pilot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262626"/>
                </a:solidFill>
              </a:rPr>
              <a:t>• Shared maintenance bays, bulk fuel/parts contracts, pooled spares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262626"/>
                </a:solidFill>
              </a:rPr>
              <a:t>• Sanitation + Transportation + Parks — no governance merger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262626"/>
                </a:solidFill>
              </a:rPr>
              <a:t>• Reversible by MOU on 90 days' notice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262626"/>
                </a:solidFill>
              </a:rPr>
              <a:t>• Captures $150K fleet OTPS + $129K of PW OT synergy</a:t>
            </a:r>
          </a:p>
        </p:txBody>
      </p:sp>
      <p:sp>
        <p:nvSpPr>
          <p:cNvPr id="6" name="Rectangle 5"/>
          <p:cNvSpPr/>
          <p:nvPr/>
        </p:nvSpPr>
        <p:spPr>
          <a:xfrm>
            <a:off x="8183880" y="1371600"/>
            <a:ext cx="3611880" cy="4206240"/>
          </a:xfrm>
          <a:prstGeom prst="rect">
            <a:avLst/>
          </a:prstGeom>
          <a:solidFill>
            <a:srgbClr val="FCF2E3"/>
          </a:solidFill>
          <a:ln w="19050"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/>
            <a:r>
              <a:rPr sz="1200" b="1">
                <a:solidFill>
                  <a:srgbClr val="BF8F00"/>
                </a:solidFill>
              </a:rPr>
              <a:t>PHASE 3  ·  month 24+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</a:rPr>
              <a:t>Consolidation re-evaluation — only if gates pass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262626"/>
                </a:solidFill>
              </a:rPr>
              <a:t>• Gate: OT% and on-time% targets met 4 consecutive quarters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262626"/>
                </a:solidFill>
              </a:rPr>
              <a:t>• Council re-opens the merger question with real evidence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262626"/>
                </a:solidFill>
              </a:rPr>
              <a:t>• No layoffs at any phase (attrition only)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262626"/>
                </a:solidFill>
              </a:rPr>
              <a:t>• Fire Department untouched throughout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The Numbers Behind the Recommendation</a:t>
            </a:r>
          </a:p>
          <a:p>
            <a:r>
              <a:rPr sz="1300" i="1">
                <a:solidFill>
                  <a:srgbClr val="595959"/>
                </a:solidFill>
              </a:rPr>
              <a:t>Net fiscal impact: Year 1 vs 3-year cumulative (workbook: Comparison Summary)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32688"/>
            <a:ext cx="11338560" cy="285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280160"/>
          <a:ext cx="66751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60920" y="1463040"/>
            <a:ext cx="4343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</a:rPr>
              <a:t>▪ </a:t>
            </a:r>
            <a:r>
              <a:rPr sz="1350" b="1">
                <a:solidFill>
                  <a:srgbClr val="262626"/>
                </a:solidFill>
              </a:rPr>
              <a:t>Hybrid 3-year net $1,580,028 — 3.0× Proposal B, 80% of A without A's risk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</a:rPr>
              <a:t>▪ </a:t>
            </a:r>
            <a:r>
              <a:rPr sz="1350" b="1">
                <a:solidFill>
                  <a:srgbClr val="262626"/>
                </a:solidFill>
              </a:rPr>
              <a:t>Positive Year 1 (+$89,552) vs A's −$205,434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</a:rPr>
              <a:t>▪ </a:t>
            </a:r>
            <a:r>
              <a:rPr sz="1350" b="1">
                <a:solidFill>
                  <a:srgbClr val="262626"/>
                </a:solidFill>
              </a:rPr>
              <a:t>Full SLA gain of B (+8.3pp; 6 processes fixed)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</a:rPr>
              <a:t>• </a:t>
            </a:r>
            <a:r>
              <a:rPr sz="1350" b="0">
                <a:solidFill>
                  <a:srgbClr val="262626"/>
                </a:solidFill>
              </a:rPr>
              <a:t>Steady-state $745,238/yr — about two-thirds of A's steady savings, from reversible actions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</a:rPr>
              <a:t>• </a:t>
            </a:r>
            <a:r>
              <a:rPr sz="1350" b="0">
                <a:solidFill>
                  <a:srgbClr val="262626"/>
                </a:solidFill>
              </a:rPr>
              <a:t>Savings rest on data triggers, not merger assumptions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Risks and Mitigations</a:t>
            </a:r>
          </a:p>
          <a:p>
            <a:r>
              <a:rPr sz="1300" i="1">
                <a:solidFill>
                  <a:srgbClr val="595959"/>
                </a:solidFill>
              </a:rPr>
              <a:t>Every material risk has a named control and an owner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32688"/>
            <a:ext cx="11338560" cy="285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914400"/>
                <a:gridCol w="4663440"/>
              </a:tblGrid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 / I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Hiring market can't deliver 22 Y1 fills (NYC: 169-318-day exam turnaround)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M / H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Dedicated 3-FTE hiring team; contract recruiters; quarterly phased targets</a:t>
                      </a:r>
                    </a:p>
                  </a:txBody>
                  <a:tcPr anchor="ctr"/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OT cap shifts work to slower response instead of lower cost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M /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Cap paired with cross-training pools; monthly OT% monitoring; Sanitation mid-year review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Fleet pilot drifts into de-facto merger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L / 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Reversible MOU, 90-day exit; quarterly gates; no personnel-authority transfer</a:t>
                      </a:r>
                    </a:p>
                  </a:txBody>
                  <a:tcPr anchor="ctr"/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Savings overstated (single-year 311 sample; blended rate; 25% backfill share)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M /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Conservative 50% haircut on merger synergy already applied; re-baseline at FY25 close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Metrics drift after the vote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L / H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Quarterly public scorecard on the four red-flag metrics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L/I = likelihood / impact (H high, M medium, L low). Full register: memo §8 and workbook assumption tabs.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Decision Requested &amp; Next Steps</a:t>
            </a:r>
          </a:p>
          <a:p>
            <a:r>
              <a:rPr sz="1300" i="1">
                <a:solidFill>
                  <a:srgbClr val="595959"/>
                </a:solidFill>
              </a:rPr>
              <a:t>The Council is asked to adopt the phased Hybrid resolution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32688"/>
            <a:ext cx="11338560" cy="285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852160"/>
                <a:gridCol w="1554480"/>
                <a:gridCol w="2834640"/>
              </a:tblGrid>
              <a:tr h="468629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Adopt Hybrid resolution (Phase 1 = Proposal B interventions in full)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This session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Council / City Manager</a:t>
                      </a:r>
                    </a:p>
                  </a:txBody>
                  <a:tcPr anchor="ctr"/>
                </a:tc>
              </a:tr>
              <a:tr h="468629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Stand up hiring team (3 FTE) + vacancy dashboard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Q1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HR Director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Fire OT cap effective; monthly OT% reporting begins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Q2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Fire Chief / Budget</a:t>
                      </a:r>
                    </a:p>
                  </a:txBody>
                  <a:tcPr anchor="ctr"/>
                </a:tc>
              </a:tr>
              <a:tr h="468629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Cross-training pools launched (45 members)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Q2-Q3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Department heads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Fleet-sharing pilot MOU with gates + 90-day reversal clause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Month 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City Manager / Fleet</a:t>
                      </a:r>
                    </a:p>
                  </a:txBody>
                  <a:tcPr anchor="ctr"/>
                </a:tc>
              </a:tr>
              <a:tr h="468629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First quarterly public scorecard (vacancy · OT% · on-time% · 311 days)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Q3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Management Analyst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686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Gate review — consolidation only if 4 consecutive quarters pass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Month 24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</a:rPr>
                        <a:t>Council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532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Bottom line: fix what the data proves is broken now (B), test the fleet synergy cheaply and reversibly (pilot), and only consider consolidation when the evidence — not the premise — supports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