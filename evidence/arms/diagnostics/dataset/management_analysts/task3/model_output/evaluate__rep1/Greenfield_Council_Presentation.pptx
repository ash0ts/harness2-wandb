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</a:rPr>
              <a:t>Departmental Restructuring: Decision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C9A227"/>
                </a:solidFill>
              </a:rPr>
              <a:t>Evaluation of Proposal A (Consolidation) and Proposal B (Targeted Fix)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327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</a:rPr>
              <a:t>City Council Regular Session - FY2025 Budget Cycle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AFC1DE"/>
                </a:solidFill>
              </a:rPr>
              <a:t>Office of Management and Budget - Management Analysis Unit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AFC1DE"/>
                </a:solidFill>
              </a:rPr>
              <a:t>October 19,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0644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C9FC0"/>
                </a:solidFill>
              </a:rPr>
              <a:t>Sources: Greenfield FY2024 staffing/overtime/311 data  |  NYS Comptroller Report 2-2025  |  NYC Mayor's Management Report (rbed-zzin)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</a:rPr>
              <a:t>FY2024 Baseline: Two Structural Weaknesses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C9D6EA"/>
                </a:solidFill>
              </a:rPr>
              <a:t>Department scorecard - flags: vacancy &gt; 12%, OT &gt; 10% of regular hours, on-time &lt; 65%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113842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920"/>
                <a:gridCol w="1264920"/>
                <a:gridCol w="1264920"/>
                <a:gridCol w="1264920"/>
                <a:gridCol w="1264920"/>
                <a:gridCol w="1264920"/>
                <a:gridCol w="1264920"/>
                <a:gridCol w="1264920"/>
                <a:gridCol w="126492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Department</a:t>
                      </a:r>
                    </a:p>
                  </a:txBody>
                  <a:tcPr anchor="ctr" marL="45720" marR="4572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Vacancy rate</a:t>
                      </a:r>
                    </a:p>
                  </a:txBody>
                  <a:tcPr anchor="ctr" marL="45720" marR="4572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OT % reg. hours</a:t>
                      </a:r>
                    </a:p>
                  </a:txBody>
                  <a:tcPr anchor="ctr" marL="45720" marR="4572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OT cost</a:t>
                      </a:r>
                    </a:p>
                  </a:txBody>
                  <a:tcPr anchor="ctr" marL="45720" marR="4572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311 days</a:t>
                      </a:r>
                    </a:p>
                  </a:txBody>
                  <a:tcPr anchor="ctr" marL="45720" marR="4572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311 rating</a:t>
                      </a:r>
                    </a:p>
                  </a:txBody>
                  <a:tcPr anchor="ctr" marL="45720" marR="4572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Worst on-time process</a:t>
                      </a:r>
                    </a:p>
                  </a:txBody>
                  <a:tcPr anchor="ctr" marL="45720" marR="4572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Fire Department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3.5%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14.6%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$2,085,312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3.82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4.23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Plan Review (59.6%)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Health Services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B02424"/>
                          </a:solidFill>
                        </a:rPr>
                        <a:t>16.7%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7.1%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$525,390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12.00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3.72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Env. Complaint (64.1%)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Parks &amp; Recreation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5.2%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6.1%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$453,960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12.50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3.55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Tree Removal (62.4%)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Sanitation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6.5%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9.8%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$646,877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9.05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3.64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Illegal Dumping (54.2%)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Transportation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B02424"/>
                          </a:solidFill>
                        </a:rPr>
                        <a:t>14.9%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8.4%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$642,979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13.62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3.36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Street Resurfacing (48.3%)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B63"/>
                          </a:solidFill>
                        </a:rPr>
                        <a:t>CITYWIDE</a:t>
                      </a:r>
                    </a:p>
                  </a:txBody>
                  <a:tcPr anchor="ctr" marL="45720" marR="45720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B63"/>
                          </a:solidFill>
                        </a:rPr>
                        <a:t>9.1%</a:t>
                      </a:r>
                    </a:p>
                  </a:txBody>
                  <a:tcPr anchor="ctr" marL="45720" marR="45720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B63"/>
                          </a:solidFill>
                        </a:rPr>
                        <a:t>9.6%</a:t>
                      </a:r>
                    </a:p>
                  </a:txBody>
                  <a:tcPr anchor="ctr" marL="45720" marR="45720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B63"/>
                          </a:solidFill>
                        </a:rPr>
                        <a:t>$4,354,518</a:t>
                      </a:r>
                    </a:p>
                  </a:txBody>
                  <a:tcPr anchor="ctr" marL="45720" marR="45720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B63"/>
                          </a:solidFill>
                        </a:rPr>
                        <a:t>10.79</a:t>
                      </a:r>
                    </a:p>
                  </a:txBody>
                  <a:tcPr anchor="ctr" marL="45720" marR="45720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B63"/>
                          </a:solidFill>
                        </a:rPr>
                        <a:t>3.63</a:t>
                      </a:r>
                    </a:p>
                  </a:txBody>
                  <a:tcPr anchor="ctr" marL="45720" marR="45720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B63"/>
                          </a:solidFill>
                        </a:rPr>
                        <a:t>8 of 25 processes &lt; 65%</a:t>
                      </a:r>
                    </a:p>
                  </a:txBody>
                  <a:tcPr anchor="ctr" marL="45720" marR="45720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5532120"/>
            <a:ext cx="11338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</a:rPr>
              <a:t>•  Vacancies concentrate: Transportation (20) + Health Services (16) = 36 of 54 citywide vacancies (67%) - both above the 12% trigger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</a:rPr>
              <a:t>•  Overtime substitutes for headcount: Fire above 10% OT in all 12 months; Sanitation above 10% in the 4 winter months ($288K spike)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</a:rPr>
              <a:t>Staffing Health Predicts Service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C9D6EA"/>
                </a:solidFill>
              </a:rPr>
              <a:t>The cross-reference the Council asked for: where vacancies concentrate, service fails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80160"/>
          <a:ext cx="6675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024"/>
                <a:gridCol w="1335024"/>
                <a:gridCol w="1335024"/>
                <a:gridCol w="1335024"/>
                <a:gridCol w="1335024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Rank by vacancy</a:t>
                      </a:r>
                    </a:p>
                  </a:txBody>
                  <a:tcPr anchor="ctr" marL="45720" marR="4572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Department</a:t>
                      </a:r>
                    </a:p>
                  </a:txBody>
                  <a:tcPr anchor="ctr" marL="45720" marR="4572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Vacancy</a:t>
                      </a:r>
                    </a:p>
                  </a:txBody>
                  <a:tcPr anchor="ctr" marL="45720" marR="4572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311 days</a:t>
                      </a:r>
                    </a:p>
                  </a:txBody>
                  <a:tcPr anchor="ctr" marL="45720" marR="4572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Satisfaction</a:t>
                      </a:r>
                    </a:p>
                  </a:txBody>
                  <a:tcPr anchor="ctr" marL="45720" marR="45720">
                    <a:solidFill>
                      <a:srgbClr val="1F3B6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1 (worst)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Health Services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B02424"/>
                          </a:solidFill>
                        </a:rPr>
                        <a:t>16.7%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12.00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3.72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2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Transportation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B02424"/>
                          </a:solidFill>
                        </a:rPr>
                        <a:t>14.9%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13.62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3.36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3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Sanitation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6.5%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9.05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3.64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4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Parks &amp; Recreation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5.2%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12.50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3.55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5 (best)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Fire Department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3.5%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3.82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4.23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526280"/>
            <a:ext cx="66751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3B63"/>
                </a:solidFill>
              </a:rPr>
              <a:t>8 of 25 tracked processes miss the 65% on-time standard.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44444"/>
                </a:solidFill>
              </a:rPr>
              <a:t>Worst: Street Resurfacing 48.3% (45.2-day cycle vs 30-day target) - owned by the department with 20 vacancies.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60920" y="1280160"/>
            <a:ext cx="4434840" cy="5120640"/>
          </a:xfrm>
          <a:prstGeom prst="rect">
            <a:avLst/>
          </a:prstGeom>
          <a:solidFill>
            <a:srgbClr val="EFF3FA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46304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B63"/>
                </a:solidFill>
              </a:rPr>
              <a:t>The OT bridge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92024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444444"/>
                </a:solidFill>
              </a:rPr>
              <a:t>•  Citywide OT: $4.35M = 9.6% of regular hours (109,442 OT hours)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444444"/>
                </a:solidFill>
              </a:rPr>
              <a:t>•  Fire: 14.6% - overtime carries the staffing gap all year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444444"/>
                </a:solidFill>
              </a:rPr>
              <a:t>•  Sanitation: winter spike Dec-Mar ($288K), Transportation Dec-Jan ($136K)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444444"/>
                </a:solidFill>
              </a:rPr>
              <a:t>•  Turnover compounds it: Health 22.0% and Transportation 20.0% annual turnover vs Fire 4.3%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444444"/>
                </a:solidFill>
              </a:rPr>
              <a:t>•  Citizens feel it: 437 of 500 311 requests closed; 10.79-day average; 3.63/5 satisfaction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</a:rPr>
              <a:t>Benchmark: NYC's Post-Pandemic Recovery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C9D6EA"/>
                </a:solidFill>
              </a:rPr>
              <a:t>NYS Comptroller Report 2-2025 + NYC MMR indicators (analog agencies: FDNY, DOHMH, DPR, DSNY, DOT)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5532120" cy="5166360"/>
          </a:xfrm>
          <a:prstGeom prst="rect">
            <a:avLst/>
          </a:prstGeom>
          <a:solidFill>
            <a:srgbClr val="EFF3FA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B63"/>
                </a:solidFill>
              </a:rPr>
              <a:t>Staffing trends (OSC Report 2-2025)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444444"/>
                </a:solidFill>
              </a:rPr>
              <a:t>•  Vacancy 5.1% (Jan 2024) vs 2.0% pre-pandemic; peaked at 8.4% (Dec 2022)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444444"/>
                </a:solidFill>
              </a:rPr>
              <a:t>•  Vacancies mirror Greenfield's problem areas: Transportation Services 10.0%, Health 9.3%, Environmental Protection 11.5%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444444"/>
                </a:solidFill>
              </a:rPr>
              <a:t>•  Overtime +62.9% ($1.11B -&gt; $1.81B); OT share of payroll 7.0% -&gt; 10.8%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444444"/>
                </a:solidFill>
              </a:rPr>
              <a:t>•  FDNY emergency-response OT share hit 40.3% ($323.4M) - and MMR response-time targets are missed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444444"/>
                </a:solidFill>
              </a:rPr>
              <a:t>•  Recovery lever: DCAS exam turnaround 318 -&gt; 219 days (-31%); applications +58%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34440"/>
            <a:ext cx="5532120" cy="5166360"/>
          </a:xfrm>
          <a:prstGeom prst="rect">
            <a:avLst/>
          </a:prstGeom>
          <a:solidFill>
            <a:srgbClr val="EFF3FA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1732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B63"/>
                </a:solidFill>
              </a:rPr>
              <a:t>MMR service indicators (latest year)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74519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444444"/>
                </a:solidFill>
              </a:rPr>
              <a:t>•  DOT pothole repair: 100% vs 98% target - service recovery tracked staffing recovery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444444"/>
                </a:solidFill>
              </a:rPr>
              <a:t>•  DOHMH: birth certificates 2.6 days vs 3.0 target; food inspections 90% = 90% target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444444"/>
                </a:solidFill>
              </a:rPr>
              <a:t>•  FDNY: structural fire 4:37 vs 4:14 target; EMS 9:32 vs 6:55 - both missed under the heaviest OT load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444444"/>
                </a:solidFill>
              </a:rPr>
              <a:t>•  Budget context: Greenfield operates at 5-20% of NYC per-employee spending - transfer the mechanisms and SLA standards, not the dollar scale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</a:rPr>
              <a:t>Proposal A - Consolidation: Merge Four Departments into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C9D6EA"/>
                </a:solidFill>
              </a:rPr>
              <a:t>Community Wellness (Health + Parks) and Public Works (Transportation + Sanitation); Fire standalone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80160"/>
          <a:ext cx="113842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070"/>
                <a:gridCol w="2846070"/>
                <a:gridCol w="2846070"/>
                <a:gridCol w="284607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Mechanism</a:t>
                      </a:r>
                    </a:p>
                  </a:txBody>
                  <a:tcPr anchor="ctr" marL="45720" marR="4572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Assumption</a:t>
                      </a:r>
                    </a:p>
                  </a:txBody>
                  <a:tcPr anchor="ctr" marL="45720" marR="4572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Year 1</a:t>
                      </a:r>
                    </a:p>
                  </a:txBody>
                  <a:tcPr anchor="ctr" marL="45720" marR="4572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Steady state</a:t>
                      </a:r>
                    </a:p>
                  </a:txBody>
                  <a:tcPr anchor="ctr" marL="45720" marR="45720">
                    <a:solidFill>
                      <a:srgbClr val="1F3B6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Admin deduplication (attrition)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10 FTE (1.9% of 542 filled) over 18 months; $64.8K loaded each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$324K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$648K/yr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Shared crews / fleet coordination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Public Works OT -10%; Parks -8%; Health -3%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$181,064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$181,064/yr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One-time implementation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HR/IT/payroll realignment, MOU negotiation, facilities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-$250K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-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44444"/>
                          </a:solidFill>
                        </a:rPr>
                        <a:t>Net impact</a:t>
                      </a:r>
                    </a:p>
                  </a:txBody>
                  <a:tcPr anchor="ctr" marL="45720" marR="45720">
                    <a:solidFill>
                      <a:srgbClr val="DEF0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44444"/>
                          </a:solidFill>
                        </a:rPr>
                        <a:t/>
                      </a:r>
                    </a:p>
                  </a:txBody>
                  <a:tcPr anchor="ctr" marL="45720" marR="45720">
                    <a:solidFill>
                      <a:srgbClr val="DEF0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444444"/>
                          </a:solidFill>
                        </a:rPr>
                        <a:t>$505,064 saved</a:t>
                      </a:r>
                    </a:p>
                  </a:txBody>
                  <a:tcPr anchor="ctr" marL="45720" marR="45720">
                    <a:solidFill>
                      <a:srgbClr val="DEF0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444444"/>
                          </a:solidFill>
                        </a:rPr>
                        <a:t>$829,064/yr saved</a:t>
                      </a:r>
                    </a:p>
                  </a:txBody>
                  <a:tcPr anchor="ctr" marL="45720" marR="45720">
                    <a:solidFill>
                      <a:srgbClr val="DEF0D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388620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B63"/>
                </a:solidFill>
              </a:rPr>
              <a:t>What it does - and does not - 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43400"/>
            <a:ext cx="11338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444444"/>
                </a:solidFill>
              </a:rPr>
              <a:t>•  Failing processes 8 -&gt; 5; average on-time gain +4.0 pts. Street Resurfacing (52.3%), Illegal Dumping (58.2%), Transit Route Change (55.1%, unchanged), Bulk Pickup (62.1%), Fire Plan Review (59.6%, unchanged) stay below 65%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444444"/>
                </a:solidFill>
              </a:rPr>
              <a:t>•  Fire's $2.09M OT (14.6%) and Sanitation's winter spike are untouched; 54 vacancies persist - Health (16.7%) and Transportation (14.9%) stay above the trigger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444444"/>
                </a:solidFill>
              </a:rPr>
              <a:t>•  Complexity 4/5 and risk 4/5: four bargaining units, MOU restructuring, attrition-timing dependency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</a:rPr>
              <a:t>Proposal B - Targeted Fix: Hire, Cap Overtime, Cross-Train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C9D6EA"/>
                </a:solidFill>
              </a:rPr>
              <a:t>All five departments retained; interventions trigger only where thresholds are breached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5532120" cy="2651760"/>
          </a:xfrm>
          <a:prstGeom prst="rect">
            <a:avLst/>
          </a:prstGeom>
          <a:solidFill>
            <a:srgbClr val="EFF3FA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B63"/>
                </a:solidFill>
              </a:rPr>
              <a:t>Trigger 1: vacancy &gt; 12% -&gt; centralized hiring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</a:rPr>
              <a:t>•  All 8 trigger divisions sit in Transportation (4 divisions, 20 vacancies) and Health Services (4 divisions, 16 vacancies)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</a:rPr>
              <a:t>•  230 authorized / 194 filled in trigger divisions; 36 vacancies = 67% of citywide total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</a:rPr>
              <a:t>•  Hire 24 of 36 in Y1: $1.75M payroll vs $1.94M vacancy authority already budgeted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34440"/>
            <a:ext cx="5532120" cy="2651760"/>
          </a:xfrm>
          <a:prstGeom prst="rect">
            <a:avLst/>
          </a:prstGeom>
          <a:solidFill>
            <a:srgbClr val="EFF3FA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716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B63"/>
                </a:solidFill>
              </a:rPr>
              <a:t>Trigger 2: OT &gt; 10% -&gt; caps + pools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8308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</a:rPr>
              <a:t>•  Fire (14.6%, 12 of 12 months): cap 12.0% Y1 -&gt; 10.5% Y2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</a:rPr>
              <a:t>•  Sanitation (4 winter spike months, $288K): 12-FTE pool, -15% spike OT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</a:rPr>
              <a:t>•  Transportation (2 spike months, $136K): 10-FTE pool; Parks: 8-FTE pool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</a:rPr>
              <a:t>•  30 cross-trained FTE total; $45K one-time training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11480" y="4114800"/>
          <a:ext cx="11384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070"/>
                <a:gridCol w="2846070"/>
                <a:gridCol w="2846070"/>
                <a:gridCol w="2846070"/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Cost/benefit line</a:t>
                      </a:r>
                    </a:p>
                  </a:txBody>
                  <a:tcPr anchor="ctr" marL="45720" marR="4572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Year 1</a:t>
                      </a:r>
                    </a:p>
                  </a:txBody>
                  <a:tcPr anchor="ctr" marL="45720" marR="4572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Steady state (Y2)</a:t>
                      </a:r>
                    </a:p>
                  </a:txBody>
                  <a:tcPr anchor="ctr" marL="45720" marR="4572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 anchor="ctr" marL="45720" marR="45720">
                    <a:solidFill>
                      <a:srgbClr val="1F3B63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New payroll (24 hires)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-$1,748,596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-$1,748,596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Within authorized 596-position envelope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OT savings (cap + pools + hiring relief)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+$579,998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+$794,745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Fire $367K -&gt; $582K as cap tightens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44444"/>
                          </a:solidFill>
                        </a:rPr>
                        <a:t>Net budget impact</a:t>
                      </a:r>
                    </a:p>
                  </a:txBody>
                  <a:tcPr anchor="ctr" marL="45720" marR="45720">
                    <a:solidFill>
                      <a:srgbClr val="DEF0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444444"/>
                          </a:solidFill>
                        </a:rPr>
                        <a:t>-$1,168,597</a:t>
                      </a:r>
                    </a:p>
                  </a:txBody>
                  <a:tcPr anchor="ctr" marL="45720" marR="45720">
                    <a:solidFill>
                      <a:srgbClr val="DEF0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444444"/>
                          </a:solidFill>
                        </a:rPr>
                        <a:t>-$832,350</a:t>
                      </a:r>
                    </a:p>
                  </a:txBody>
                  <a:tcPr anchor="ctr" marL="45720" marR="45720">
                    <a:solidFill>
                      <a:srgbClr val="DEF0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444444"/>
                          </a:solidFill>
                        </a:rPr>
                        <a:t>No new appropriation required</a:t>
                      </a:r>
                    </a:p>
                  </a:txBody>
                  <a:tcPr anchor="ctr" marL="45720" marR="45720">
                    <a:solidFill>
                      <a:srgbClr val="DEF0DE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11480" y="5989320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B63"/>
                </a:solidFill>
              </a:rPr>
              <a:t>Service result: 8 -&gt; 3 failing processes; average on-time gain +6.6 pts; citywide 311 resolution 10.79 -&gt; 9.56 days. Complexity 2/5, risk 2/5.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</a:rPr>
              <a:t>Head-to-Head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C9D6EA"/>
                </a:solidFill>
              </a:rPr>
              <a:t>Five Council-specified dimensions + weighted net recommendation score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280160"/>
          <a:ext cx="105156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 anchor="ctr" marL="45720" marR="4572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Proposal A (Consolidate)</a:t>
                      </a:r>
                    </a:p>
                  </a:txBody>
                  <a:tcPr anchor="ctr" marL="45720" marR="4572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Proposal B (Targeted Fix)</a:t>
                      </a:r>
                    </a:p>
                  </a:txBody>
                  <a:tcPr anchor="ctr" marL="45720" marR="4572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Hybrid (B now + A-lite in Public Works)</a:t>
                      </a:r>
                    </a:p>
                  </a:txBody>
                  <a:tcPr anchor="ctr" marL="45720" marR="45720">
                    <a:solidFill>
                      <a:srgbClr val="1F3B63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444444"/>
                          </a:solidFill>
                        </a:rPr>
                        <a:t>Annual net budget impact vs FY2024 ($K, steady)</a:t>
                      </a:r>
                    </a:p>
                  </a:txBody>
                  <a:tcPr anchor="ctr" marL="45720" marR="45720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829.0</a:t>
                      </a:r>
                    </a:p>
                  </a:txBody>
                  <a:tcPr anchor="ctr" marL="45720" marR="45720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-832.0</a:t>
                      </a:r>
                    </a:p>
                  </a:txBody>
                  <a:tcPr anchor="ctr" marL="45720" marR="45720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-379.0</a:t>
                      </a:r>
                    </a:p>
                  </a:txBody>
                  <a:tcPr anchor="ctr" marL="45720" marR="45720">
                    <a:solidFill>
                      <a:srgbClr val="EFF3FA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444444"/>
                          </a:solidFill>
                        </a:rPr>
                        <a:t>FTE reallocation count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10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54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60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444444"/>
                          </a:solidFill>
                        </a:rPr>
                        <a:t>Processes below 65% on-time: before -&gt; after</a:t>
                      </a:r>
                    </a:p>
                  </a:txBody>
                  <a:tcPr anchor="ctr" marL="45720" marR="45720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8 -&gt; 5</a:t>
                      </a:r>
                    </a:p>
                  </a:txBody>
                  <a:tcPr anchor="ctr" marL="45720" marR="45720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8 -&gt; 3</a:t>
                      </a:r>
                    </a:p>
                  </a:txBody>
                  <a:tcPr anchor="ctr" marL="45720" marR="45720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8 -&gt; 2</a:t>
                      </a:r>
                    </a:p>
                  </a:txBody>
                  <a:tcPr anchor="ctr" marL="45720" marR="45720">
                    <a:solidFill>
                      <a:srgbClr val="EFF3FA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444444"/>
                          </a:solidFill>
                        </a:rPr>
                        <a:t>Avg on-time gain (targeted processes, pts)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4.0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6.6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7.2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444444"/>
                          </a:solidFill>
                        </a:rPr>
                        <a:t>Implementation complexity (1 low - 5 high)</a:t>
                      </a:r>
                    </a:p>
                  </a:txBody>
                  <a:tcPr anchor="ctr" marL="45720" marR="45720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4</a:t>
                      </a:r>
                    </a:p>
                  </a:txBody>
                  <a:tcPr anchor="ctr" marL="45720" marR="45720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2</a:t>
                      </a:r>
                    </a:p>
                  </a:txBody>
                  <a:tcPr anchor="ctr" marL="45720" marR="45720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3</a:t>
                      </a:r>
                    </a:p>
                  </a:txBody>
                  <a:tcPr anchor="ctr" marL="45720" marR="45720">
                    <a:solidFill>
                      <a:srgbClr val="EFF3FA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444444"/>
                          </a:solidFill>
                        </a:rPr>
                        <a:t>Risk rating (1 low - 5 high)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4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2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3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444444"/>
                          </a:solidFill>
                        </a:rPr>
                        <a:t>Net recommendation score</a:t>
                      </a:r>
                    </a:p>
                  </a:txBody>
                  <a:tcPr anchor="ctr" marL="45720" marR="45720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2.9</a:t>
                      </a:r>
                    </a:p>
                  </a:txBody>
                  <a:tcPr anchor="ctr" marL="45720" marR="45720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3.1</a:t>
                      </a:r>
                    </a:p>
                  </a:txBody>
                  <a:tcPr anchor="ctr" marL="45720" marR="45720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3.3</a:t>
                      </a:r>
                    </a:p>
                  </a:txBody>
                  <a:tcPr anchor="ctr" marL="45720" marR="45720">
                    <a:solidFill>
                      <a:srgbClr val="EFF3FA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3B63"/>
                          </a:solidFill>
                        </a:rPr>
                        <a:t>Net recommendation score</a:t>
                      </a:r>
                    </a:p>
                  </a:txBody>
                  <a:tcPr anchor="ctr" marL="45720" marR="45720">
                    <a:solidFill>
                      <a:srgbClr val="DEF0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B63"/>
                          </a:solidFill>
                        </a:rPr>
                        <a:t>2.9</a:t>
                      </a:r>
                    </a:p>
                  </a:txBody>
                  <a:tcPr anchor="ctr" marL="45720" marR="45720">
                    <a:solidFill>
                      <a:srgbClr val="DEF0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B63"/>
                          </a:solidFill>
                        </a:rPr>
                        <a:t>3.1</a:t>
                      </a:r>
                    </a:p>
                  </a:txBody>
                  <a:tcPr anchor="ctr" marL="45720" marR="45720">
                    <a:solidFill>
                      <a:srgbClr val="DEF0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B63"/>
                          </a:solidFill>
                        </a:rPr>
                        <a:t>3.3</a:t>
                      </a:r>
                    </a:p>
                  </a:txBody>
                  <a:tcPr anchor="ctr" marL="45720" marR="45720">
                    <a:solidFill>
                      <a:srgbClr val="DEF0D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486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44444"/>
                </a:solidFill>
              </a:rPr>
              <a:t>Weights: savings 30%, SLA improvement 25%, complexity 20% (inverted), risk 15% (inverted), FTE reallocation 10%. Scores: A 2.9 - cheapest but leaves both structural drivers untouched; B 3.1 - best service-per-dollar but no structural savings; Hybrid 3.3 - B's service recovery plus A-style savings in Public Works only.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</a:rPr>
              <a:t>Recommendation: Adopt the Hybrid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C9D6EA"/>
                </a:solidFill>
              </a:rPr>
              <a:t>Proposal B now + A-lite shared-services compact in Public Works; defer Health-Parks merger to FY2027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7040880" cy="2286000"/>
          </a:xfrm>
          <a:prstGeom prst="rect">
            <a:avLst/>
          </a:prstGeom>
          <a:solidFill>
            <a:srgbClr val="DEF0DE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E7D32"/>
                </a:solidFill>
              </a:rPr>
              <a:t>The package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6583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444444"/>
                </a:solidFill>
              </a:rPr>
              <a:t>•  FY2025: centralized hiring unit fills 24 of 36 trigger vacancies; Fire OT cap path 12.0% -&gt; 10.5%; 30-FTE cross-training pools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444444"/>
                </a:solidFill>
              </a:rPr>
              <a:t>•  FY2025: Public Works compact - 6-position admin dedup ($388.8K) + coordinated fleet/dispatch/winter ops ($64.5K) - no statutory merger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444444"/>
                </a:solidFill>
              </a:rPr>
              <a:t>•  FY2027: Health-Parks merger decided on data (go/no-go review)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3703320"/>
          <a:ext cx="70408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0220"/>
                <a:gridCol w="1760220"/>
                <a:gridCol w="1760220"/>
                <a:gridCol w="1760220"/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anchor="ctr" marL="45720" marR="4572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Proposal A</a:t>
                      </a:r>
                    </a:p>
                  </a:txBody>
                  <a:tcPr anchor="ctr" marL="45720" marR="4572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Proposal B</a:t>
                      </a:r>
                    </a:p>
                  </a:txBody>
                  <a:tcPr anchor="ctr" marL="45720" marR="4572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Hybrid</a:t>
                      </a:r>
                    </a:p>
                  </a:txBody>
                  <a:tcPr anchor="ctr" marL="45720" marR="45720">
                    <a:solidFill>
                      <a:srgbClr val="1F3B63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Net budget impact (steady)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+$829K saved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-$832K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444444"/>
                          </a:solidFill>
                        </a:rPr>
                        <a:t>-$379K</a:t>
                      </a:r>
                    </a:p>
                  </a:txBody>
                  <a:tcPr anchor="ctr" marL="45720" marR="45720">
                    <a:solidFill>
                      <a:srgbClr val="DEF0D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Failing processes (of 8)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5 remain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3 remain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444444"/>
                          </a:solidFill>
                        </a:rPr>
                        <a:t>2 remain</a:t>
                      </a:r>
                    </a:p>
                  </a:txBody>
                  <a:tcPr anchor="ctr" marL="45720" marR="45720">
                    <a:solidFill>
                      <a:srgbClr val="DEF0D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Avg 311 resolution (days)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10.3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4444"/>
                          </a:solidFill>
                        </a:rPr>
                        <a:t>9.56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444444"/>
                          </a:solidFill>
                        </a:rPr>
                        <a:t>9.40</a:t>
                      </a:r>
                    </a:p>
                  </a:txBody>
                  <a:tcPr anchor="ctr" marL="45720" marR="45720">
                    <a:solidFill>
                      <a:srgbClr val="DEF0DE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726679" y="1234440"/>
            <a:ext cx="4023360" cy="5120640"/>
          </a:xfrm>
          <a:prstGeom prst="rect">
            <a:avLst/>
          </a:prstGeom>
          <a:solidFill>
            <a:srgbClr val="EFF3FA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41732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B63"/>
                </a:solidFill>
              </a:rPr>
              <a:t>Why the Hybrid wins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874519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</a:rPr>
              <a:t>•  Only option that attacks both structural drivers: 36 trigger vacancies AND Fire's 14.6% OT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</a:rPr>
              <a:t>•  Net cost $379K/yr - one-third of A's savings gap - with the best service outcome on every metric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</a:rPr>
              <a:t>•  No new appropriation: hires land inside the authorized 596-position envelope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</a:rPr>
              <a:t>•  Every mechanism is validated by NYC's recovery record (hiring speed, OT containment)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</a:rPr>
              <a:t>Implementation Risks and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C9D6EA"/>
                </a:solidFill>
              </a:rPr>
              <a:t>Principal risks rated by likelihood and managed by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801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/>
                <a:gridCol w="3794760"/>
                <a:gridCol w="3794760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 anchor="ctr" marL="45720" marR="4572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Rating</a:t>
                      </a:r>
                    </a:p>
                  </a:txBody>
                  <a:tcPr anchor="ctr" marL="45720" marR="4572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 anchor="ctr" marL="45720" marR="45720">
                    <a:solidFill>
                      <a:srgbClr val="1F3B63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</a:rPr>
                        <a:t>Recruitment market cannot supply 24 qualified candidates in FY2025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444444"/>
                          </a:solidFill>
                        </a:rPr>
                        <a:t>Medium</a:t>
                      </a:r>
                    </a:p>
                  </a:txBody>
                  <a:tcPr anchor="ctr" marL="45720" marR="45720">
                    <a:solidFill>
                      <a:srgbClr val="F6D5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</a:rPr>
                        <a:t>Phase hires over 6 quarters; prioritize divisions owning the worst SLAs (Road Maintenance, Public Transit, Clinical Services, Environmental Health)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</a:rPr>
                        <a:t>Fire OT cap conflicts with minimum-staffing contract terms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444444"/>
                          </a:solidFill>
                        </a:rPr>
                        <a:t>Medium</a:t>
                      </a:r>
                    </a:p>
                  </a:txBody>
                  <a:tcPr anchor="ctr" marL="45720" marR="45720">
                    <a:solidFill>
                      <a:srgbClr val="F6D5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</a:rPr>
                        <a:t>Negotiate cap as a budget target with the union; backfill with Fire-eligible cross-trainees if the cap binds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</a:rPr>
                        <a:t>Attrition timing delays deduplication savings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Low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</a:rPr>
                        <a:t>Treat $388.8K as phased (50% Y1); quarterly reporting to Council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</a:rPr>
                        <a:t>Cross-training dilutes specialist output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Low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</a:rPr>
                        <a:t>Cap pool assignments at 90 days; exclude licensing-constrained roles</a:t>
                      </a:r>
                    </a:p>
                  </a:txBody>
                  <a:tcPr anchor="ctr" marL="45720" marR="45720">
                    <a:solidFill>
                      <a:srgbClr val="F7F9F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</a:rPr>
                        <a:t>FY2027 merger question returns without new evidence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</a:rPr>
                        <a:t>Low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</a:rPr>
                        <a:t>FY2026 review uses vacancy fill rates + 8-process SLA panel as go/no-go criteria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5760720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444444"/>
                </a:solidFill>
              </a:rPr>
              <a:t>Assumption disclosure: loaded cost factor 1.35; trigger-division average salary $53,969; on-time gains assume hiring lands by mid-FY2025 (each quarter of delay defers ~25% of modeled SLA improvement).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</a:rPr>
              <a:t>Requested Council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685800" cy="685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27048"/>
            <a:ext cx="685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162B47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90472"/>
            <a:ext cx="9692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</a:rPr>
              <a:t>Adopt the Hybrid restructuring plan (Proposal B interventions + Public Works shared-services compact)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685800" cy="685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78608"/>
            <a:ext cx="685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162B47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42032"/>
            <a:ext cx="9692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</a:rPr>
              <a:t>Authorize the centralized hiring unit ($120K one-time) and the $45K cross-training program, effective Q1 FY2025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520440"/>
            <a:ext cx="685800" cy="685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630168"/>
            <a:ext cx="685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162B47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593592"/>
            <a:ext cx="9692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</a:rPr>
              <a:t>Direct quarterly reporting: trigger-division fill rates, Fire OT vs cap path, eight-process SLA panel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572000"/>
            <a:ext cx="685800" cy="685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681728"/>
            <a:ext cx="685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162B47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645152"/>
            <a:ext cx="9692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</a:rPr>
              <a:t>Schedule the Health-Parks consolidation decision for the FY2027 budget cycle (data-driven go/no-go)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FC1DE"/>
                </a:solidFill>
              </a:rPr>
              <a:t>Full analysis: Decision Briefing Memo + Cost-Benefit Analysis Workbook (4 tabs, line-by-line reconciled to source data)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